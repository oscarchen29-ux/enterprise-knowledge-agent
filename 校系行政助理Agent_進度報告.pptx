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9" r:id="rId4"/>
    <p:sldMasterId id="2147483670" r:id="rId5"/>
  </p:sldMasterIdLst>
  <p:notesMasterIdLst>
    <p:notesMasterId r:id="rId6"/>
  </p:notesMasterIdLst>
  <p:sldIdLst>
    <p:sldId id="256" r:id="rId7"/>
    <p:sldId id="257" r:id="rId8"/>
    <p:sldId id="280" r:id="rId27"/>
    <p:sldId id="281" r:id="rId30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9" r:id="rId28"/>
    <p:sldId id="274" r:id="rId25"/>
    <p:sldId id="275" r:id="rId26"/>
    <p:sldId id="278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0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08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3.xml"/><Relationship Id="rId28" Type="http://schemas.openxmlformats.org/officeDocument/2006/relationships/slide" Target="slides/slide19.xml"/><Relationship Id="rId29" Type="http://schemas.openxmlformats.org/officeDocument/2006/relationships/slide" Target="slides/slide22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8d203905e3_4_2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8d203905e3_4_2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8d203905e3_4_20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8d203905e3_4_2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8d203905e3_4_2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8d203905e3_4_2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8d203905e3_4_2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8d203905e3_4_2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8d203905e3_4_2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8d203905e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8d203905e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8d203905e3_6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8d203905e3_6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8d203905e3_6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9a698b77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a9a698b77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a9a698b77e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a9a698b77e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a9a698b77e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9a698b77e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a9a698b77e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a9a698b77e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ca9a5a33c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aca9a5a33c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a295d4d0b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a295d4d0b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877804f08e_0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877804f08e_0_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877804f08e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877804f08e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877804f08e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877804f08e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3877804f08e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877804f08e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8d203905e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8d203905e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8d203905e3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g38d203905e3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8d203905e3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8d203905e3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38d203905e3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8d203905e3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a295d4d0b5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g3a295d4d0b5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a295d4d0b5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877804f08e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877804f08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877804f08e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877804f08e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877804f08e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a295d4d0b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a295d4d0b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學生報告封面">
  <p:cSld name="學生報告封面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/>
          <p:nvPr/>
        </p:nvSpPr>
        <p:spPr>
          <a:xfrm>
            <a:off x="-6998" y="-1"/>
            <a:ext cx="3252831" cy="5143500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9884" y="146119"/>
            <a:ext cx="1233060" cy="123306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>
            <p:ph type="ctrTitle"/>
          </p:nvPr>
        </p:nvSpPr>
        <p:spPr>
          <a:xfrm>
            <a:off x="177923" y="1525298"/>
            <a:ext cx="2896985" cy="1061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72" name="Google Shape;72;p14"/>
          <p:cNvCxnSpPr/>
          <p:nvPr/>
        </p:nvCxnSpPr>
        <p:spPr>
          <a:xfrm>
            <a:off x="123602" y="2587029"/>
            <a:ext cx="3005624" cy="0"/>
          </a:xfrm>
          <a:prstGeom prst="straightConnector1">
            <a:avLst/>
          </a:prstGeom>
          <a:noFill/>
          <a:ln cap="flat" cmpd="sng" w="28575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" name="Google Shape;73;p14"/>
          <p:cNvCxnSpPr/>
          <p:nvPr/>
        </p:nvCxnSpPr>
        <p:spPr>
          <a:xfrm>
            <a:off x="3245833" y="4968244"/>
            <a:ext cx="4360949" cy="0"/>
          </a:xfrm>
          <a:prstGeom prst="straightConnector1">
            <a:avLst/>
          </a:prstGeom>
          <a:noFill/>
          <a:ln cap="flat" cmpd="sng" w="28575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74" name="Google Shape;7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6782" y="4791008"/>
            <a:ext cx="1079086" cy="40237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>
            <p:ph idx="1" type="subTitle"/>
          </p:nvPr>
        </p:nvSpPr>
        <p:spPr>
          <a:xfrm>
            <a:off x="3657945" y="1006161"/>
            <a:ext cx="5027923" cy="313117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6" name="Google Shape;76;p14"/>
          <p:cNvSpPr txBox="1"/>
          <p:nvPr/>
        </p:nvSpPr>
        <p:spPr>
          <a:xfrm>
            <a:off x="177923" y="3256532"/>
            <a:ext cx="2896985" cy="27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zh-TW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指導教授：周信宏　副教授</a:t>
            </a:r>
            <a:endParaRPr sz="1100"/>
          </a:p>
        </p:txBody>
      </p:sp>
      <p:grpSp>
        <p:nvGrpSpPr>
          <p:cNvPr id="77" name="Google Shape;77;p14"/>
          <p:cNvGrpSpPr/>
          <p:nvPr/>
        </p:nvGrpSpPr>
        <p:grpSpPr>
          <a:xfrm rot="-228623">
            <a:off x="-173784" y="3588333"/>
            <a:ext cx="2069858" cy="1874554"/>
            <a:chOff x="-1349966" y="36601"/>
            <a:chExt cx="8161752" cy="7391646"/>
          </a:xfrm>
        </p:grpSpPr>
        <p:pic>
          <p:nvPicPr>
            <p:cNvPr descr="棋盤圖- 維基百科，自由的百科全書" id="78" name="Google Shape;7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-233470">
              <a:off x="403179" y="1019642"/>
              <a:ext cx="6205212" cy="6205210"/>
            </a:xfrm>
            <a:prstGeom prst="rect">
              <a:avLst/>
            </a:prstGeom>
            <a:noFill/>
            <a:ln cap="flat" cmpd="sng" w="349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17500" algn="ctr">
                <a:srgbClr val="000000">
                  <a:alpha val="42745"/>
                </a:srgbClr>
              </a:outerShdw>
            </a:effectLst>
          </p:spPr>
        </p:pic>
        <p:grpSp>
          <p:nvGrpSpPr>
            <p:cNvPr id="79" name="Google Shape;79;p14"/>
            <p:cNvGrpSpPr/>
            <p:nvPr/>
          </p:nvGrpSpPr>
          <p:grpSpPr>
            <a:xfrm flipH="1" rot="989811">
              <a:off x="-848914" y="653174"/>
              <a:ext cx="4958420" cy="4247800"/>
              <a:chOff x="3966256" y="542455"/>
              <a:chExt cx="3376325" cy="3237462"/>
            </a:xfrm>
          </p:grpSpPr>
          <p:pic>
            <p:nvPicPr>
              <p:cNvPr id="80" name="Google Shape;80;p1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rot="-1759918">
                <a:off x="4349239" y="1037799"/>
                <a:ext cx="2610359" cy="224677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" name="Google Shape;81;p14"/>
              <p:cNvSpPr/>
              <p:nvPr/>
            </p:nvSpPr>
            <p:spPr>
              <a:xfrm rot="-1458812">
                <a:off x="4821886" y="2777047"/>
                <a:ext cx="1018360" cy="595745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82" name="Google Shape;82;p14"/>
          <p:cNvSpPr txBox="1"/>
          <p:nvPr/>
        </p:nvSpPr>
        <p:spPr>
          <a:xfrm>
            <a:off x="177923" y="2851093"/>
            <a:ext cx="2896985" cy="27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zh-TW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報告學生：</a:t>
            </a:r>
            <a:endParaRPr sz="1100"/>
          </a:p>
        </p:txBody>
      </p:sp>
      <p:sp>
        <p:nvSpPr>
          <p:cNvPr id="83" name="Google Shape;83;p14"/>
          <p:cNvSpPr txBox="1"/>
          <p:nvPr>
            <p:ph idx="2" type="body"/>
          </p:nvPr>
        </p:nvSpPr>
        <p:spPr>
          <a:xfrm>
            <a:off x="1128016" y="2850728"/>
            <a:ext cx="1897014" cy="272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tline">
  <p:cSld name="Outlin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Google Shape;85;p15"/>
          <p:cNvCxnSpPr/>
          <p:nvPr/>
        </p:nvCxnSpPr>
        <p:spPr>
          <a:xfrm>
            <a:off x="0" y="4954854"/>
            <a:ext cx="4051160" cy="8138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" name="Google Shape;86;p15"/>
          <p:cNvCxnSpPr/>
          <p:nvPr/>
        </p:nvCxnSpPr>
        <p:spPr>
          <a:xfrm>
            <a:off x="457200" y="885825"/>
            <a:ext cx="8686800" cy="0"/>
          </a:xfrm>
          <a:prstGeom prst="straightConnector1">
            <a:avLst/>
          </a:prstGeom>
          <a:noFill/>
          <a:ln cap="flat" cmpd="sng" w="28575">
            <a:solidFill>
              <a:srgbClr val="4B91D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457200" y="1194791"/>
            <a:ext cx="78867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88" name="Google Shape;88;p15"/>
          <p:cNvCxnSpPr/>
          <p:nvPr/>
        </p:nvCxnSpPr>
        <p:spPr>
          <a:xfrm>
            <a:off x="5127959" y="4954500"/>
            <a:ext cx="3110200" cy="8314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9" name="Google Shape;89;p15"/>
          <p:cNvGrpSpPr/>
          <p:nvPr/>
        </p:nvGrpSpPr>
        <p:grpSpPr>
          <a:xfrm>
            <a:off x="4156073" y="4875892"/>
            <a:ext cx="869261" cy="273842"/>
            <a:chOff x="1556910" y="1526777"/>
            <a:chExt cx="6957916" cy="2665279"/>
          </a:xfrm>
        </p:grpSpPr>
        <p:sp>
          <p:nvSpPr>
            <p:cNvPr id="90" name="Google Shape;90;p15"/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" name="Google Shape;91;p15"/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2" name="Google Shape;92;p15"/>
            <p:cNvCxnSpPr/>
            <p:nvPr/>
          </p:nvCxnSpPr>
          <p:spPr>
            <a:xfrm>
              <a:off x="3263317" y="1526796"/>
              <a:ext cx="947956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93" name="Google Shape;93;p15"/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" name="Google Shape;94;p15"/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" name="Google Shape;96;p15"/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" name="Google Shape;98;p15"/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01" name="Google Shape;101;p15"/>
          <p:cNvSpPr/>
          <p:nvPr/>
        </p:nvSpPr>
        <p:spPr>
          <a:xfrm rot="5400000">
            <a:off x="-2468168" y="2468165"/>
            <a:ext cx="5143502" cy="207169"/>
          </a:xfrm>
          <a:prstGeom prst="rect">
            <a:avLst/>
          </a:prstGeom>
          <a:solidFill>
            <a:srgbClr val="C5DC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8256419" y="4816838"/>
            <a:ext cx="4110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500" u="none" cap="none" strike="noStrike">
                <a:solidFill>
                  <a:srgbClr val="6F6F6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500" u="none" cap="none" strike="noStrike">
              <a:solidFill>
                <a:srgbClr val="6F6F6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457200" y="273843"/>
            <a:ext cx="8058150" cy="61195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b="0" i="0" lang="zh-TW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b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>
  <p:cSld name="章節標題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" name="Google Shape;105;p16"/>
          <p:cNvCxnSpPr/>
          <p:nvPr/>
        </p:nvCxnSpPr>
        <p:spPr>
          <a:xfrm>
            <a:off x="0" y="4954854"/>
            <a:ext cx="4051160" cy="8138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" name="Google Shape;106;p16"/>
          <p:cNvSpPr/>
          <p:nvPr/>
        </p:nvSpPr>
        <p:spPr>
          <a:xfrm rot="5400000">
            <a:off x="-2468168" y="2468165"/>
            <a:ext cx="5143502" cy="207169"/>
          </a:xfrm>
          <a:prstGeom prst="rect">
            <a:avLst/>
          </a:prstGeom>
          <a:solidFill>
            <a:srgbClr val="C5DC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0" y="1310282"/>
            <a:ext cx="9144000" cy="1707356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6"/>
          <p:cNvSpPr txBox="1"/>
          <p:nvPr>
            <p:ph type="title"/>
          </p:nvPr>
        </p:nvSpPr>
        <p:spPr>
          <a:xfrm>
            <a:off x="663157" y="1310281"/>
            <a:ext cx="7809591" cy="1707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09" name="Google Shape;109;p16"/>
          <p:cNvCxnSpPr/>
          <p:nvPr/>
        </p:nvCxnSpPr>
        <p:spPr>
          <a:xfrm>
            <a:off x="5127959" y="4954040"/>
            <a:ext cx="3500652" cy="4157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10" name="Google Shape;110;p16"/>
          <p:cNvGrpSpPr/>
          <p:nvPr/>
        </p:nvGrpSpPr>
        <p:grpSpPr>
          <a:xfrm>
            <a:off x="4156073" y="4875892"/>
            <a:ext cx="869261" cy="273842"/>
            <a:chOff x="1556910" y="1526777"/>
            <a:chExt cx="6957916" cy="2665279"/>
          </a:xfrm>
        </p:grpSpPr>
        <p:sp>
          <p:nvSpPr>
            <p:cNvPr id="111" name="Google Shape;111;p16"/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" name="Google Shape;112;p16"/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3" name="Google Shape;113;p16"/>
            <p:cNvCxnSpPr/>
            <p:nvPr/>
          </p:nvCxnSpPr>
          <p:spPr>
            <a:xfrm>
              <a:off x="3263317" y="1526796"/>
              <a:ext cx="947956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114" name="Google Shape;114;p16"/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" name="Google Shape;115;p16"/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" name="Google Shape;117;p16"/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" name="Google Shape;119;p16"/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內容">
  <p:cSld name="只有內容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Google Shape;123;p17"/>
          <p:cNvCxnSpPr/>
          <p:nvPr/>
        </p:nvCxnSpPr>
        <p:spPr>
          <a:xfrm>
            <a:off x="0" y="4954854"/>
            <a:ext cx="4051160" cy="8138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" name="Google Shape;124;p17"/>
          <p:cNvSpPr txBox="1"/>
          <p:nvPr>
            <p:ph idx="1" type="body"/>
          </p:nvPr>
        </p:nvSpPr>
        <p:spPr>
          <a:xfrm>
            <a:off x="457200" y="649702"/>
            <a:ext cx="7886700" cy="380859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grpSp>
        <p:nvGrpSpPr>
          <p:cNvPr id="125" name="Google Shape;125;p17"/>
          <p:cNvGrpSpPr/>
          <p:nvPr/>
        </p:nvGrpSpPr>
        <p:grpSpPr>
          <a:xfrm>
            <a:off x="4156073" y="4875892"/>
            <a:ext cx="869261" cy="273842"/>
            <a:chOff x="1556910" y="1526777"/>
            <a:chExt cx="6957916" cy="2665279"/>
          </a:xfrm>
        </p:grpSpPr>
        <p:sp>
          <p:nvSpPr>
            <p:cNvPr id="126" name="Google Shape;126;p17"/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" name="Google Shape;127;p17"/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8" name="Google Shape;128;p17"/>
            <p:cNvCxnSpPr/>
            <p:nvPr/>
          </p:nvCxnSpPr>
          <p:spPr>
            <a:xfrm>
              <a:off x="3263317" y="1526796"/>
              <a:ext cx="947956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129" name="Google Shape;129;p17"/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" name="Google Shape;130;p17"/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" name="Google Shape;132;p17"/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" name="Google Shape;134;p17"/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37" name="Google Shape;137;p17"/>
          <p:cNvSpPr/>
          <p:nvPr/>
        </p:nvSpPr>
        <p:spPr>
          <a:xfrm rot="5400000">
            <a:off x="-2468168" y="2468165"/>
            <a:ext cx="5143502" cy="207169"/>
          </a:xfrm>
          <a:prstGeom prst="rect">
            <a:avLst/>
          </a:prstGeom>
          <a:solidFill>
            <a:srgbClr val="C5DC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8" name="Google Shape;138;p17"/>
          <p:cNvCxnSpPr/>
          <p:nvPr/>
        </p:nvCxnSpPr>
        <p:spPr>
          <a:xfrm>
            <a:off x="5127959" y="4954500"/>
            <a:ext cx="3110200" cy="8314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9" name="Google Shape;139;p17"/>
          <p:cNvSpPr txBox="1"/>
          <p:nvPr/>
        </p:nvSpPr>
        <p:spPr>
          <a:xfrm>
            <a:off x="8256419" y="4816838"/>
            <a:ext cx="4110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500" u="none" cap="none" strike="noStrike">
                <a:solidFill>
                  <a:srgbClr val="6F6F6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500" u="none" cap="none" strike="noStrike">
              <a:solidFill>
                <a:srgbClr val="6F6F6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與內容">
  <p:cSld name="標題與內容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Google Shape;141;p18"/>
          <p:cNvCxnSpPr/>
          <p:nvPr/>
        </p:nvCxnSpPr>
        <p:spPr>
          <a:xfrm>
            <a:off x="0" y="4954854"/>
            <a:ext cx="4051160" cy="8138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2" name="Google Shape;142;p18"/>
          <p:cNvSpPr txBox="1"/>
          <p:nvPr>
            <p:ph type="title"/>
          </p:nvPr>
        </p:nvSpPr>
        <p:spPr>
          <a:xfrm>
            <a:off x="457200" y="273844"/>
            <a:ext cx="8058150" cy="6119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43" name="Google Shape;143;p18"/>
          <p:cNvCxnSpPr/>
          <p:nvPr/>
        </p:nvCxnSpPr>
        <p:spPr>
          <a:xfrm>
            <a:off x="457200" y="885825"/>
            <a:ext cx="8686800" cy="0"/>
          </a:xfrm>
          <a:prstGeom prst="straightConnector1">
            <a:avLst/>
          </a:prstGeom>
          <a:noFill/>
          <a:ln cap="flat" cmpd="sng" w="28575">
            <a:solidFill>
              <a:srgbClr val="4B91D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" name="Google Shape;144;p18"/>
          <p:cNvSpPr txBox="1"/>
          <p:nvPr>
            <p:ph idx="1" type="body"/>
          </p:nvPr>
        </p:nvSpPr>
        <p:spPr>
          <a:xfrm>
            <a:off x="457200" y="1194791"/>
            <a:ext cx="78867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grpSp>
        <p:nvGrpSpPr>
          <p:cNvPr id="145" name="Google Shape;145;p18"/>
          <p:cNvGrpSpPr/>
          <p:nvPr/>
        </p:nvGrpSpPr>
        <p:grpSpPr>
          <a:xfrm>
            <a:off x="4156073" y="4875892"/>
            <a:ext cx="869261" cy="273842"/>
            <a:chOff x="1556910" y="1526777"/>
            <a:chExt cx="6957916" cy="2665279"/>
          </a:xfrm>
        </p:grpSpPr>
        <p:sp>
          <p:nvSpPr>
            <p:cNvPr id="146" name="Google Shape;146;p18"/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" name="Google Shape;147;p18"/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48" name="Google Shape;148;p18"/>
            <p:cNvCxnSpPr/>
            <p:nvPr/>
          </p:nvCxnSpPr>
          <p:spPr>
            <a:xfrm>
              <a:off x="3263317" y="1526796"/>
              <a:ext cx="947956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149" name="Google Shape;149;p18"/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" name="Google Shape;150;p18"/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" name="Google Shape;152;p18"/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" name="Google Shape;153;p18"/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" name="Google Shape;154;p18"/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57" name="Google Shape;157;p18"/>
          <p:cNvSpPr/>
          <p:nvPr/>
        </p:nvSpPr>
        <p:spPr>
          <a:xfrm rot="5400000">
            <a:off x="-2468168" y="2468165"/>
            <a:ext cx="5143502" cy="207169"/>
          </a:xfrm>
          <a:prstGeom prst="rect">
            <a:avLst/>
          </a:prstGeom>
          <a:solidFill>
            <a:srgbClr val="C5DC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8" name="Google Shape;158;p18"/>
          <p:cNvCxnSpPr/>
          <p:nvPr/>
        </p:nvCxnSpPr>
        <p:spPr>
          <a:xfrm>
            <a:off x="5127959" y="4954500"/>
            <a:ext cx="3110200" cy="8314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9" name="Google Shape;159;p18"/>
          <p:cNvSpPr txBox="1"/>
          <p:nvPr/>
        </p:nvSpPr>
        <p:spPr>
          <a:xfrm>
            <a:off x="8256419" y="4816838"/>
            <a:ext cx="4110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500" u="none" cap="none" strike="noStrike">
                <a:solidFill>
                  <a:srgbClr val="6F6F6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500" u="none" cap="none" strike="noStrike">
              <a:solidFill>
                <a:srgbClr val="6F6F6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>
  <p:cSld name="兩個內容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1" name="Google Shape;161;p19"/>
          <p:cNvCxnSpPr/>
          <p:nvPr/>
        </p:nvCxnSpPr>
        <p:spPr>
          <a:xfrm>
            <a:off x="0" y="4954854"/>
            <a:ext cx="4051160" cy="8138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2" name="Google Shape;162;p19"/>
          <p:cNvSpPr txBox="1"/>
          <p:nvPr>
            <p:ph idx="1" type="body"/>
          </p:nvPr>
        </p:nvSpPr>
        <p:spPr>
          <a:xfrm>
            <a:off x="457200" y="1196100"/>
            <a:ext cx="4035905" cy="33192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3" name="Google Shape;163;p19"/>
          <p:cNvSpPr txBox="1"/>
          <p:nvPr>
            <p:ph idx="2" type="body"/>
          </p:nvPr>
        </p:nvSpPr>
        <p:spPr>
          <a:xfrm>
            <a:off x="4650896" y="1196100"/>
            <a:ext cx="4016532" cy="33192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grpSp>
        <p:nvGrpSpPr>
          <p:cNvPr id="164" name="Google Shape;164;p19"/>
          <p:cNvGrpSpPr/>
          <p:nvPr/>
        </p:nvGrpSpPr>
        <p:grpSpPr>
          <a:xfrm>
            <a:off x="4156073" y="4875892"/>
            <a:ext cx="869261" cy="273842"/>
            <a:chOff x="1556910" y="1526777"/>
            <a:chExt cx="6957916" cy="2665279"/>
          </a:xfrm>
        </p:grpSpPr>
        <p:sp>
          <p:nvSpPr>
            <p:cNvPr id="165" name="Google Shape;165;p19"/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" name="Google Shape;166;p19"/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67" name="Google Shape;167;p19"/>
            <p:cNvCxnSpPr/>
            <p:nvPr/>
          </p:nvCxnSpPr>
          <p:spPr>
            <a:xfrm>
              <a:off x="3263317" y="1526796"/>
              <a:ext cx="947956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168" name="Google Shape;168;p19"/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" name="Google Shape;169;p19"/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0" name="Google Shape;170;p19"/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1" name="Google Shape;171;p19"/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2" name="Google Shape;172;p19"/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3" name="Google Shape;173;p19"/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4" name="Google Shape;174;p19"/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76" name="Google Shape;176;p19"/>
          <p:cNvSpPr/>
          <p:nvPr/>
        </p:nvSpPr>
        <p:spPr>
          <a:xfrm rot="5400000">
            <a:off x="-2468168" y="2468165"/>
            <a:ext cx="5143502" cy="207169"/>
          </a:xfrm>
          <a:prstGeom prst="rect">
            <a:avLst/>
          </a:prstGeom>
          <a:solidFill>
            <a:srgbClr val="C5DC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7" name="Google Shape;177;p19"/>
          <p:cNvCxnSpPr/>
          <p:nvPr/>
        </p:nvCxnSpPr>
        <p:spPr>
          <a:xfrm>
            <a:off x="457200" y="885825"/>
            <a:ext cx="8686800" cy="0"/>
          </a:xfrm>
          <a:prstGeom prst="straightConnector1">
            <a:avLst/>
          </a:prstGeom>
          <a:noFill/>
          <a:ln cap="flat" cmpd="sng" w="28575">
            <a:solidFill>
              <a:srgbClr val="4B91D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8" name="Google Shape;178;p19"/>
          <p:cNvSpPr txBox="1"/>
          <p:nvPr>
            <p:ph type="title"/>
          </p:nvPr>
        </p:nvSpPr>
        <p:spPr>
          <a:xfrm>
            <a:off x="457200" y="272700"/>
            <a:ext cx="80595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79" name="Google Shape;179;p19"/>
          <p:cNvCxnSpPr/>
          <p:nvPr/>
        </p:nvCxnSpPr>
        <p:spPr>
          <a:xfrm>
            <a:off x="5127959" y="4954500"/>
            <a:ext cx="3110200" cy="8314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0" name="Google Shape;180;p19"/>
          <p:cNvSpPr txBox="1"/>
          <p:nvPr/>
        </p:nvSpPr>
        <p:spPr>
          <a:xfrm>
            <a:off x="8256419" y="4816838"/>
            <a:ext cx="4110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500">
                <a:solidFill>
                  <a:srgbClr val="6F6F6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500">
              <a:solidFill>
                <a:srgbClr val="6F6F6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一般封面">
  <p:cSld name="一般封面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/>
          <p:nvPr/>
        </p:nvSpPr>
        <p:spPr>
          <a:xfrm>
            <a:off x="-6998" y="-1"/>
            <a:ext cx="3252831" cy="5143500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9884" y="146119"/>
            <a:ext cx="1233060" cy="123306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>
            <p:ph type="ctrTitle"/>
          </p:nvPr>
        </p:nvSpPr>
        <p:spPr>
          <a:xfrm>
            <a:off x="177923" y="1525298"/>
            <a:ext cx="2896985" cy="1061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85" name="Google Shape;185;p20"/>
          <p:cNvCxnSpPr/>
          <p:nvPr/>
        </p:nvCxnSpPr>
        <p:spPr>
          <a:xfrm>
            <a:off x="123602" y="2587029"/>
            <a:ext cx="3005624" cy="0"/>
          </a:xfrm>
          <a:prstGeom prst="straightConnector1">
            <a:avLst/>
          </a:prstGeom>
          <a:noFill/>
          <a:ln cap="flat" cmpd="sng" w="28575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6" name="Google Shape;186;p20"/>
          <p:cNvCxnSpPr/>
          <p:nvPr/>
        </p:nvCxnSpPr>
        <p:spPr>
          <a:xfrm>
            <a:off x="3245833" y="4968244"/>
            <a:ext cx="4360949" cy="0"/>
          </a:xfrm>
          <a:prstGeom prst="straightConnector1">
            <a:avLst/>
          </a:prstGeom>
          <a:noFill/>
          <a:ln cap="flat" cmpd="sng" w="28575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6782" y="4791008"/>
            <a:ext cx="1079086" cy="40237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>
            <p:ph idx="1" type="subTitle"/>
          </p:nvPr>
        </p:nvSpPr>
        <p:spPr>
          <a:xfrm>
            <a:off x="3657945" y="1006161"/>
            <a:ext cx="5027923" cy="313117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grpSp>
        <p:nvGrpSpPr>
          <p:cNvPr id="189" name="Google Shape;189;p20"/>
          <p:cNvGrpSpPr/>
          <p:nvPr/>
        </p:nvGrpSpPr>
        <p:grpSpPr>
          <a:xfrm rot="-228623">
            <a:off x="-173784" y="3588333"/>
            <a:ext cx="2069858" cy="1874554"/>
            <a:chOff x="-1349966" y="36601"/>
            <a:chExt cx="8161752" cy="7391646"/>
          </a:xfrm>
        </p:grpSpPr>
        <p:pic>
          <p:nvPicPr>
            <p:cNvPr descr="棋盤圖- 維基百科，自由的百科全書" id="190" name="Google Shape;190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-233470">
              <a:off x="403179" y="1019642"/>
              <a:ext cx="6205212" cy="6205210"/>
            </a:xfrm>
            <a:prstGeom prst="rect">
              <a:avLst/>
            </a:prstGeom>
            <a:noFill/>
            <a:ln cap="flat" cmpd="sng" w="349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17500" algn="ctr">
                <a:srgbClr val="000000">
                  <a:alpha val="42745"/>
                </a:srgbClr>
              </a:outerShdw>
            </a:effectLst>
          </p:spPr>
        </p:pic>
        <p:grpSp>
          <p:nvGrpSpPr>
            <p:cNvPr id="191" name="Google Shape;191;p20"/>
            <p:cNvGrpSpPr/>
            <p:nvPr/>
          </p:nvGrpSpPr>
          <p:grpSpPr>
            <a:xfrm flipH="1" rot="989811">
              <a:off x="-848914" y="653174"/>
              <a:ext cx="4958420" cy="4247800"/>
              <a:chOff x="3966256" y="542455"/>
              <a:chExt cx="3376325" cy="3237462"/>
            </a:xfrm>
          </p:grpSpPr>
          <p:pic>
            <p:nvPicPr>
              <p:cNvPr id="192" name="Google Shape;192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rot="-1759918">
                <a:off x="4349239" y="1037799"/>
                <a:ext cx="2610359" cy="224677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3" name="Google Shape;193;p20"/>
              <p:cNvSpPr/>
              <p:nvPr/>
            </p:nvSpPr>
            <p:spPr>
              <a:xfrm rot="-1458812">
                <a:off x="4821886" y="2777047"/>
                <a:ext cx="1018360" cy="595745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194" name="Google Shape;194;p20"/>
          <p:cNvSpPr txBox="1"/>
          <p:nvPr>
            <p:ph idx="2" type="body"/>
          </p:nvPr>
        </p:nvSpPr>
        <p:spPr>
          <a:xfrm>
            <a:off x="177923" y="2850728"/>
            <a:ext cx="2896985" cy="272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>
  <p:cSld name="比較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6" name="Google Shape;196;p21"/>
          <p:cNvCxnSpPr/>
          <p:nvPr/>
        </p:nvCxnSpPr>
        <p:spPr>
          <a:xfrm>
            <a:off x="0" y="4954854"/>
            <a:ext cx="4051160" cy="8138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7" name="Google Shape;197;p21"/>
          <p:cNvSpPr txBox="1"/>
          <p:nvPr>
            <p:ph idx="1" type="body"/>
          </p:nvPr>
        </p:nvSpPr>
        <p:spPr>
          <a:xfrm>
            <a:off x="457200" y="959953"/>
            <a:ext cx="4035905" cy="617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98" name="Google Shape;198;p21"/>
          <p:cNvSpPr txBox="1"/>
          <p:nvPr>
            <p:ph idx="2" type="body"/>
          </p:nvPr>
        </p:nvSpPr>
        <p:spPr>
          <a:xfrm>
            <a:off x="4650896" y="959953"/>
            <a:ext cx="4016531" cy="617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grpSp>
        <p:nvGrpSpPr>
          <p:cNvPr id="199" name="Google Shape;199;p21"/>
          <p:cNvGrpSpPr/>
          <p:nvPr/>
        </p:nvGrpSpPr>
        <p:grpSpPr>
          <a:xfrm>
            <a:off x="4156073" y="4875892"/>
            <a:ext cx="869261" cy="273842"/>
            <a:chOff x="1556910" y="1526777"/>
            <a:chExt cx="6957916" cy="2665279"/>
          </a:xfrm>
        </p:grpSpPr>
        <p:sp>
          <p:nvSpPr>
            <p:cNvPr id="200" name="Google Shape;200;p21"/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1" name="Google Shape;201;p21"/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02" name="Google Shape;202;p21"/>
            <p:cNvCxnSpPr/>
            <p:nvPr/>
          </p:nvCxnSpPr>
          <p:spPr>
            <a:xfrm>
              <a:off x="3263317" y="1526796"/>
              <a:ext cx="947956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203" name="Google Shape;203;p21"/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4" name="Google Shape;204;p21"/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5" name="Google Shape;205;p21"/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6" name="Google Shape;206;p21"/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7" name="Google Shape;207;p21"/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8" name="Google Shape;208;p21"/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9" name="Google Shape;209;p21"/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0" name="Google Shape;210;p21"/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11" name="Google Shape;211;p21"/>
          <p:cNvSpPr/>
          <p:nvPr/>
        </p:nvSpPr>
        <p:spPr>
          <a:xfrm rot="5400000">
            <a:off x="-2468168" y="2468165"/>
            <a:ext cx="5143502" cy="207169"/>
          </a:xfrm>
          <a:prstGeom prst="rect">
            <a:avLst/>
          </a:prstGeom>
          <a:solidFill>
            <a:srgbClr val="C5DC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2" name="Google Shape;212;p21"/>
          <p:cNvCxnSpPr/>
          <p:nvPr/>
        </p:nvCxnSpPr>
        <p:spPr>
          <a:xfrm>
            <a:off x="457200" y="885825"/>
            <a:ext cx="8686800" cy="0"/>
          </a:xfrm>
          <a:prstGeom prst="straightConnector1">
            <a:avLst/>
          </a:prstGeom>
          <a:noFill/>
          <a:ln cap="flat" cmpd="sng" w="28575">
            <a:solidFill>
              <a:srgbClr val="4B91D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3" name="Google Shape;213;p21"/>
          <p:cNvSpPr txBox="1"/>
          <p:nvPr>
            <p:ph idx="3" type="body"/>
          </p:nvPr>
        </p:nvSpPr>
        <p:spPr>
          <a:xfrm>
            <a:off x="457200" y="1652014"/>
            <a:ext cx="4035905" cy="28493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4" name="Google Shape;214;p21"/>
          <p:cNvSpPr txBox="1"/>
          <p:nvPr>
            <p:ph idx="4" type="body"/>
          </p:nvPr>
        </p:nvSpPr>
        <p:spPr>
          <a:xfrm>
            <a:off x="4650896" y="1652014"/>
            <a:ext cx="4016532" cy="284930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5" name="Google Shape;215;p21"/>
          <p:cNvSpPr txBox="1"/>
          <p:nvPr>
            <p:ph type="title"/>
          </p:nvPr>
        </p:nvSpPr>
        <p:spPr>
          <a:xfrm>
            <a:off x="456300" y="273844"/>
            <a:ext cx="80595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216" name="Google Shape;216;p21"/>
          <p:cNvCxnSpPr/>
          <p:nvPr/>
        </p:nvCxnSpPr>
        <p:spPr>
          <a:xfrm>
            <a:off x="5127959" y="4954500"/>
            <a:ext cx="3110200" cy="8314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7" name="Google Shape;217;p21"/>
          <p:cNvSpPr txBox="1"/>
          <p:nvPr/>
        </p:nvSpPr>
        <p:spPr>
          <a:xfrm>
            <a:off x="8256419" y="4816838"/>
            <a:ext cx="4110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500">
                <a:solidFill>
                  <a:srgbClr val="6F6F6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500">
              <a:solidFill>
                <a:srgbClr val="6F6F6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說明的圖片" type="picTx">
  <p:cSld name="PICTURE_WITH_CAPTION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9" name="Google Shape;219;p22"/>
          <p:cNvCxnSpPr/>
          <p:nvPr/>
        </p:nvCxnSpPr>
        <p:spPr>
          <a:xfrm>
            <a:off x="0" y="4954854"/>
            <a:ext cx="4051160" cy="8138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0" name="Google Shape;220;p22"/>
          <p:cNvCxnSpPr/>
          <p:nvPr/>
        </p:nvCxnSpPr>
        <p:spPr>
          <a:xfrm>
            <a:off x="-1" y="1318610"/>
            <a:ext cx="3579020" cy="0"/>
          </a:xfrm>
          <a:prstGeom prst="straightConnector1">
            <a:avLst/>
          </a:prstGeom>
          <a:noFill/>
          <a:ln cap="flat" cmpd="sng" w="28575">
            <a:solidFill>
              <a:srgbClr val="4B91D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1" name="Google Shape;221;p22"/>
          <p:cNvSpPr txBox="1"/>
          <p:nvPr>
            <p:ph type="title"/>
          </p:nvPr>
        </p:nvSpPr>
        <p:spPr>
          <a:xfrm>
            <a:off x="629841" y="562038"/>
            <a:ext cx="2949178" cy="75437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2" name="Google Shape;222;p22"/>
          <p:cNvSpPr/>
          <p:nvPr>
            <p:ph idx="2" type="pic"/>
          </p:nvPr>
        </p:nvSpPr>
        <p:spPr>
          <a:xfrm>
            <a:off x="3871651" y="562039"/>
            <a:ext cx="4775814" cy="383375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2"/>
          <p:cNvSpPr txBox="1"/>
          <p:nvPr>
            <p:ph idx="1" type="body"/>
          </p:nvPr>
        </p:nvSpPr>
        <p:spPr>
          <a:xfrm>
            <a:off x="679565" y="1543050"/>
            <a:ext cx="2899454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grpSp>
        <p:nvGrpSpPr>
          <p:cNvPr id="224" name="Google Shape;224;p22"/>
          <p:cNvGrpSpPr/>
          <p:nvPr/>
        </p:nvGrpSpPr>
        <p:grpSpPr>
          <a:xfrm>
            <a:off x="4156073" y="4875892"/>
            <a:ext cx="869261" cy="273842"/>
            <a:chOff x="1556910" y="1526777"/>
            <a:chExt cx="6957916" cy="2665279"/>
          </a:xfrm>
        </p:grpSpPr>
        <p:sp>
          <p:nvSpPr>
            <p:cNvPr id="225" name="Google Shape;225;p22"/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" name="Google Shape;226;p22"/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27" name="Google Shape;227;p22"/>
            <p:cNvCxnSpPr/>
            <p:nvPr/>
          </p:nvCxnSpPr>
          <p:spPr>
            <a:xfrm>
              <a:off x="3263317" y="1526796"/>
              <a:ext cx="947956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228" name="Google Shape;228;p22"/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" name="Google Shape;229;p22"/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p22"/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p22"/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" name="Google Shape;232;p22"/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p22"/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p22"/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" name="Google Shape;235;p22"/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36" name="Google Shape;236;p22"/>
          <p:cNvSpPr/>
          <p:nvPr/>
        </p:nvSpPr>
        <p:spPr>
          <a:xfrm rot="5400000">
            <a:off x="-2468168" y="2468165"/>
            <a:ext cx="5143502" cy="207169"/>
          </a:xfrm>
          <a:prstGeom prst="rect">
            <a:avLst/>
          </a:prstGeom>
          <a:solidFill>
            <a:srgbClr val="C5DC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7" name="Google Shape;237;p22"/>
          <p:cNvCxnSpPr/>
          <p:nvPr/>
        </p:nvCxnSpPr>
        <p:spPr>
          <a:xfrm>
            <a:off x="5127959" y="4954500"/>
            <a:ext cx="3110200" cy="8314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8" name="Google Shape;238;p22"/>
          <p:cNvSpPr txBox="1"/>
          <p:nvPr/>
        </p:nvSpPr>
        <p:spPr>
          <a:xfrm>
            <a:off x="8256419" y="4816838"/>
            <a:ext cx="4110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500">
                <a:solidFill>
                  <a:srgbClr val="6F6F6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500">
              <a:solidFill>
                <a:srgbClr val="6F6F6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0" name="Google Shape;240;p23"/>
          <p:cNvCxnSpPr/>
          <p:nvPr/>
        </p:nvCxnSpPr>
        <p:spPr>
          <a:xfrm>
            <a:off x="0" y="4954854"/>
            <a:ext cx="4051160" cy="8138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41" name="Google Shape;241;p23"/>
          <p:cNvGrpSpPr/>
          <p:nvPr/>
        </p:nvGrpSpPr>
        <p:grpSpPr>
          <a:xfrm>
            <a:off x="4156073" y="4875892"/>
            <a:ext cx="869261" cy="273842"/>
            <a:chOff x="1556910" y="1526777"/>
            <a:chExt cx="6957916" cy="2665279"/>
          </a:xfrm>
        </p:grpSpPr>
        <p:sp>
          <p:nvSpPr>
            <p:cNvPr id="242" name="Google Shape;242;p23"/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" name="Google Shape;243;p23"/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44" name="Google Shape;244;p23"/>
            <p:cNvCxnSpPr/>
            <p:nvPr/>
          </p:nvCxnSpPr>
          <p:spPr>
            <a:xfrm>
              <a:off x="3263317" y="1526796"/>
              <a:ext cx="947956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245" name="Google Shape;245;p23"/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" name="Google Shape;246;p23"/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" name="Google Shape;247;p23"/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" name="Google Shape;248;p23"/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" name="Google Shape;249;p23"/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0" name="Google Shape;250;p23"/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1" name="Google Shape;251;p23"/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2" name="Google Shape;252;p23"/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53" name="Google Shape;253;p23"/>
          <p:cNvSpPr/>
          <p:nvPr/>
        </p:nvSpPr>
        <p:spPr>
          <a:xfrm rot="5400000">
            <a:off x="-2468168" y="2468165"/>
            <a:ext cx="5143502" cy="207169"/>
          </a:xfrm>
          <a:prstGeom prst="rect">
            <a:avLst/>
          </a:prstGeom>
          <a:solidFill>
            <a:srgbClr val="C5DC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3"/>
          <p:cNvSpPr txBox="1"/>
          <p:nvPr/>
        </p:nvSpPr>
        <p:spPr>
          <a:xfrm>
            <a:off x="8256419" y="4816838"/>
            <a:ext cx="4110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500">
                <a:solidFill>
                  <a:srgbClr val="6F6F6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500">
              <a:solidFill>
                <a:srgbClr val="6F6F6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5" name="Google Shape;255;p23"/>
          <p:cNvCxnSpPr/>
          <p:nvPr/>
        </p:nvCxnSpPr>
        <p:spPr>
          <a:xfrm>
            <a:off x="5127959" y="4954500"/>
            <a:ext cx="3110200" cy="8314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  <a:defRPr b="0" i="0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0" y="1"/>
            <a:ext cx="9144000" cy="24300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5" name="Google Shape;55;p13"/>
          <p:cNvGrpSpPr/>
          <p:nvPr/>
        </p:nvGrpSpPr>
        <p:grpSpPr>
          <a:xfrm>
            <a:off x="8415338" y="50346"/>
            <a:ext cx="659437" cy="192655"/>
            <a:chOff x="1556910" y="1526777"/>
            <a:chExt cx="6957916" cy="2665279"/>
          </a:xfrm>
        </p:grpSpPr>
        <p:sp>
          <p:nvSpPr>
            <p:cNvPr id="56" name="Google Shape;56;p13"/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" name="Google Shape;57;p13"/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8" name="Google Shape;58;p13"/>
            <p:cNvCxnSpPr/>
            <p:nvPr/>
          </p:nvCxnSpPr>
          <p:spPr>
            <a:xfrm>
              <a:off x="3263317" y="1526796"/>
              <a:ext cx="947956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59" name="Google Shape;59;p13"/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" name="Google Shape;62;p13"/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" name="Google Shape;64;p13"/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67" name="Google Shape;67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755963" y="4788694"/>
            <a:ext cx="304587" cy="30220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tcdares.gov.tw/files/tdais/web_structure/13262/A01_1.pdf" TargetMode="External"/><Relationship Id="rId4" Type="http://schemas.openxmlformats.org/officeDocument/2006/relationships/hyperlink" Target="https://fae.moa.gov.tw/map/food_item.php?type=AS04&amp;id=112" TargetMode="External"/><Relationship Id="rId5" Type="http://schemas.openxmlformats.org/officeDocument/2006/relationships/hyperlink" Target="https://kmweb.moa.gov.tw/subject/subject.php?id=31923&amp;print=Y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ricelee.com/product/raspberry-pi-zero-2-w" TargetMode="External"/><Relationship Id="rId4" Type="http://schemas.openxmlformats.org/officeDocument/2006/relationships/hyperlink" Target="https://piepie.com.tw/product/mini-hdmi-c-male-to-standard-hdmi-a-female" TargetMode="External"/><Relationship Id="rId5" Type="http://schemas.openxmlformats.org/officeDocument/2006/relationships/hyperlink" Target="https://piepie.com.tw/product/raspberry-pi-zero-case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aiia.csie.ncnu.edu.tw:8879" TargetMode="External"/><Relationship Id="rId4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"/>
          <p:cNvSpPr txBox="1"/>
          <p:nvPr>
            <p:ph type="ctrTitle"/>
          </p:nvPr>
        </p:nvSpPr>
        <p:spPr>
          <a:xfrm>
            <a:off x="128044" y="1510383"/>
            <a:ext cx="2896985" cy="1061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zh-TW"/>
              <a:t>進度報告</a:t>
            </a:r>
            <a:endParaRPr/>
          </a:p>
        </p:txBody>
      </p:sp>
      <p:sp>
        <p:nvSpPr>
          <p:cNvPr id="262" name="Google Shape;262;p24"/>
          <p:cNvSpPr txBox="1"/>
          <p:nvPr>
            <p:ph idx="1" type="subTitle"/>
          </p:nvPr>
        </p:nvSpPr>
        <p:spPr>
          <a:xfrm>
            <a:off x="3629389" y="863252"/>
            <a:ext cx="5028000" cy="3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100"/>
              <a:t>校系行政助理 Agent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/>
          </a:p>
        </p:txBody>
      </p:sp>
      <p:sp>
        <p:nvSpPr>
          <p:cNvPr id="263" name="Google Shape;263;p24"/>
          <p:cNvSpPr txBox="1"/>
          <p:nvPr>
            <p:ph idx="2" type="body"/>
          </p:nvPr>
        </p:nvSpPr>
        <p:spPr>
          <a:xfrm>
            <a:off x="1128026" y="2850725"/>
            <a:ext cx="19695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zh-TW"/>
              <a:t>113321060 陳宣予</a:t>
            </a:r>
            <a:endParaRPr/>
          </a:p>
        </p:txBody>
      </p:sp>
      <p:sp>
        <p:nvSpPr>
          <p:cNvPr id="264" name="Google Shape;264;p24"/>
          <p:cNvSpPr/>
          <p:nvPr/>
        </p:nvSpPr>
        <p:spPr>
          <a:xfrm>
            <a:off x="1955800" y="3268133"/>
            <a:ext cx="194734" cy="203200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9CC2E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/>
          <p:nvPr>
            <p:ph idx="1" type="body"/>
          </p:nvPr>
        </p:nvSpPr>
        <p:spPr>
          <a:xfrm>
            <a:off x="914925" y="1089100"/>
            <a:ext cx="8031900" cy="36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1. Motivation</a:t>
            </a:r>
            <a:endParaRPr sz="2400"/>
          </a:p>
          <a:p>
            <a:pPr/>
            <a:r>
              <a:t>2. Goal</a:t>
            </a:r>
          </a:p>
          <a:p>
            <a:pPr/>
            <a:r>
              <a:t>3. System Architecture</a:t>
            </a:r>
          </a:p>
          <a:p>
            <a:pPr/>
            <a:r>
              <a:t>4. Current Progress</a:t>
            </a:r>
          </a:p>
          <a:p>
            <a:pPr/>
            <a:r>
              <a:t>5. TODO 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"/>
          <p:cNvSpPr txBox="1"/>
          <p:nvPr>
            <p:ph type="title"/>
          </p:nvPr>
        </p:nvSpPr>
        <p:spPr>
          <a:xfrm>
            <a:off x="663157" y="1310282"/>
            <a:ext cx="7809600" cy="17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zh-TW"/>
              <a:t>1. Motivation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7"/>
          <p:cNvSpPr txBox="1"/>
          <p:nvPr/>
        </p:nvSpPr>
        <p:spPr>
          <a:xfrm>
            <a:off x="213395" y="93999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學校與企業的行政規定文件量大且分散(學則、選課、獎學金、論文格式各自一份)，使用者常常要花時間翻找多份文件才能拼湊出完整答案。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/>
            <a:r>
              <a:t>透過 AI Agent 結合文件檢索與多步驟推理，可以自動查詢、整合跨文件資訊並回答；並以本地部署保護校內/企業內部資料隱私。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/>
          <p:nvPr>
            <p:ph type="title"/>
          </p:nvPr>
        </p:nvSpPr>
        <p:spPr>
          <a:xfrm>
            <a:off x="663157" y="1310282"/>
            <a:ext cx="7809600" cy="1707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5207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Goal</a:t>
            </a:r>
            <a:endParaRPr i="1" sz="2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9"/>
          <p:cNvSpPr txBox="1"/>
          <p:nvPr>
            <p:ph type="title"/>
          </p:nvPr>
        </p:nvSpPr>
        <p:spPr>
          <a:xfrm>
            <a:off x="457200" y="273844"/>
            <a:ext cx="805815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lang="zh-TW" sz="2800"/>
              <a:t>系統目標</a:t>
            </a:r>
            <a:endParaRPr sz="2800"/>
          </a:p>
        </p:txBody>
      </p:sp>
      <p:sp>
        <p:nvSpPr>
          <p:cNvPr id="293" name="Google Shape;293;p29"/>
          <p:cNvSpPr txBox="1"/>
          <p:nvPr>
            <p:ph idx="1" type="body"/>
          </p:nvPr>
        </p:nvSpPr>
        <p:spPr>
          <a:xfrm>
            <a:off x="457200" y="1194800"/>
            <a:ext cx="7949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>支援多步驟、跨文件的行政問題查詢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/>
            <a:r>
              <a:t>查無依據時誠實回答「文件未提及」，不編造內容</a:t>
            </a:r>
          </a:p>
          <a:p>
            <a:pPr/>
            <a:r>
              <a:t>全程使用繁體中文回應</a:t>
            </a:r>
          </a:p>
          <a:p>
            <a:pPr/>
            <a:r>
              <a:t>未來可本地部署，保護內部資料隱私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0"/>
          <p:cNvSpPr txBox="1"/>
          <p:nvPr>
            <p:ph type="title"/>
          </p:nvPr>
        </p:nvSpPr>
        <p:spPr>
          <a:xfrm>
            <a:off x="457200" y="273844"/>
            <a:ext cx="8058300" cy="612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資料來源</a:t>
            </a:r>
            <a:endParaRPr/>
          </a:p>
        </p:txBody>
      </p:sp>
      <p:sp>
        <p:nvSpPr>
          <p:cNvPr id="300" name="Google Shape;300;p30"/>
          <p:cNvSpPr txBox="1"/>
          <p:nvPr>
            <p:ph idx="1" type="body"/>
          </p:nvPr>
        </p:nvSpPr>
        <p:spPr>
          <a:xfrm>
            <a:off x="457200" y="1194791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>國立暨南國際大學教務處 curriculum.ncnu.edu.tw</a:t>
            </a:r>
            <a:endParaRPr/>
          </a:p>
          <a:p>
            <a:pPr/>
            <a:r>
              <a:t>註冊組 regist.ncnu.edu.tw</a:t>
            </a:r>
          </a:p>
          <a:p>
            <a:pPr/>
            <a:r>
              <a:t>學務處 assistance.ncnu.edu.tw</a:t>
            </a:r>
          </a:p>
          <a:p>
            <a:pPr/>
            <a:r>
              <a:t>資訊工程學系 csie.ncnu.edu.tw</a:t>
            </a:r>
          </a:p>
          <a:p>
            <a:pPr/>
            <a:r>
              <a:t>語文教學中心 ltrc.ncnu.edu.tw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1"/>
          <p:cNvSpPr txBox="1"/>
          <p:nvPr>
            <p:ph type="title"/>
          </p:nvPr>
        </p:nvSpPr>
        <p:spPr>
          <a:xfrm>
            <a:off x="457200" y="273844"/>
            <a:ext cx="80583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lang="zh-TW" sz="2800"/>
              <a:t>評估重點</a:t>
            </a:r>
            <a:endParaRPr sz="2800"/>
          </a:p>
        </p:txBody>
      </p:sp>
      <p:sp>
        <p:nvSpPr>
          <p:cNvPr id="307" name="Google Shape;307;p31"/>
          <p:cNvSpPr txBox="1"/>
          <p:nvPr>
            <p:ph idx="1" type="body"/>
          </p:nvPr>
        </p:nvSpPr>
        <p:spPr>
          <a:xfrm>
            <a:off x="457200" y="1194800"/>
            <a:ext cx="7949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45720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1700">
                <a:latin typeface="Arial"/>
              </a:rPr>
              <a:t>回答準確率(是否對應文件原文)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700">
                <a:latin typeface="Arial"/>
              </a:rPr>
              <a:t>幻覺率(有無編造未提及的內容)</a:t>
            </a:r>
          </a:p>
          <a:p>
            <a:pPr/>
            <a:r>
              <a:rPr sz="1700">
                <a:latin typeface="Arial"/>
              </a:rPr>
              <a:t>工具呼叫成功率(能否正確查到相關文件)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2"/>
          <p:cNvSpPr txBox="1"/>
          <p:nvPr>
            <p:ph type="title"/>
          </p:nvPr>
        </p:nvSpPr>
        <p:spPr>
          <a:xfrm>
            <a:off x="457200" y="273844"/>
            <a:ext cx="80583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lang="zh-TW" sz="2800"/>
              <a:t>自我驗證機制</a:t>
            </a:r>
            <a:endParaRPr sz="2800"/>
          </a:p>
        </p:txBody>
      </p:sp>
      <p:sp>
        <p:nvSpPr>
          <p:cNvPr id="316" name="Google Shape;316;p32"/>
          <p:cNvSpPr txBox="1"/>
          <p:nvPr>
            <p:ph idx="1" type="body"/>
          </p:nvPr>
        </p:nvSpPr>
        <p:spPr>
          <a:xfrm>
            <a:off x="457200" y="1194800"/>
            <a:ext cx="78228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1700">
                <a:latin typeface="Arial"/>
              </a:rPr>
              <a:t>Agent 草擬回答後，再呼叫一次 LLM 比對原始文件，砍掉沒有根據的內容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700">
                <a:latin typeface="Arial"/>
              </a:rPr>
              <a:t>目的：降低幻覺、確保回答可追溯到真實規定文件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3"/>
          <p:cNvSpPr txBox="1"/>
          <p:nvPr>
            <p:ph type="title"/>
          </p:nvPr>
        </p:nvSpPr>
        <p:spPr>
          <a:xfrm>
            <a:off x="457200" y="273844"/>
            <a:ext cx="8058300" cy="612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系統運作流程</a:t>
            </a:r>
            <a:endParaRPr/>
          </a:p>
        </p:txBody>
      </p:sp>
      <p:pic>
        <p:nvPicPr>
          <p:cNvPr id="322" name="Picture 321" descr="assets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046" y="1234440"/>
            <a:ext cx="6225906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4"/>
          <p:cNvSpPr txBox="1"/>
          <p:nvPr>
            <p:ph type="title"/>
          </p:nvPr>
        </p:nvSpPr>
        <p:spPr>
          <a:xfrm>
            <a:off x="663157" y="1310282"/>
            <a:ext cx="7809600" cy="1707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5207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TW"/>
              <a:t>3. System Architecture</a:t>
            </a:r>
            <a:endParaRPr i="1" sz="2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5"/>
          <p:cNvSpPr txBox="1"/>
          <p:nvPr/>
        </p:nvSpPr>
        <p:spPr>
          <a:xfrm>
            <a:off x="630050" y="682575"/>
            <a:ext cx="7886700" cy="3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>Provider 抽象層：Ollama(本地) / Claude API / DGX Spark(未來)</a:t>
            </a:r>
            <a:endParaRPr sz="2100">
              <a:solidFill>
                <a:schemeClr val="dk1"/>
              </a:solidFill>
            </a:endParaRPr>
          </a:p>
          <a:p>
            <a:pPr/>
            <a:r>
              <a:t>Agent 迴圈：查文件工具 → 草擬回答 → 自我驗證 → OpenCC 簡轉繁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6"/>
          <p:cNvSpPr txBox="1"/>
          <p:nvPr>
            <p:ph type="title"/>
          </p:nvPr>
        </p:nvSpPr>
        <p:spPr>
          <a:xfrm>
            <a:off x="457200" y="273850"/>
            <a:ext cx="81801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lang="zh-TW" sz="2800"/>
              <a:t>技術規格</a:t>
            </a:r>
            <a:endParaRPr sz="2800"/>
          </a:p>
        </p:txBody>
      </p:sp>
      <p:sp>
        <p:nvSpPr>
          <p:cNvPr id="340" name="Google Shape;340;p36"/>
          <p:cNvSpPr txBox="1"/>
          <p:nvPr>
            <p:ph idx="1" type="body"/>
          </p:nvPr>
        </p:nvSpPr>
        <p:spPr>
          <a:xfrm>
            <a:off x="504388" y="1147613"/>
            <a:ext cx="7886700" cy="3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1600"/>
              <a:t>本地模型：qwen2.5:7b / 14b (透過 Ollama)</a:t>
            </a:r>
            <a:endParaRPr sz="1600"/>
          </a:p>
          <a:p>
            <a:pPr/>
            <a:r>
              <a:rPr sz="1600"/>
              <a:t>知識庫：17 份暨大真實公開行政文件 (約82KB)</a:t>
            </a:r>
          </a:p>
          <a:p>
            <a:pPr/>
            <a:r>
              <a:rPr sz="1600"/>
              <a:t>檢索：關鍵字比對 + 中文2-gram輔助(之後換向量檢索)</a:t>
            </a:r>
          </a:p>
          <a:p>
            <a:pPr/>
            <a:r>
              <a:rPr sz="1600"/>
              <a:t>語言修正：OpenCC s2tw 簡轉繁</a:t>
            </a:r>
          </a:p>
          <a:p>
            <a:pPr/>
            <a:r>
              <a:rPr sz="1600"/>
              <a:t>版本控制：GitHub (public repo)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7"/>
          <p:cNvSpPr txBox="1"/>
          <p:nvPr>
            <p:ph type="title"/>
          </p:nvPr>
        </p:nvSpPr>
        <p:spPr>
          <a:xfrm>
            <a:off x="457200" y="273844"/>
            <a:ext cx="80583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lang="zh-TW" sz="2800"/>
              <a:t>GitHub Repo</a:t>
            </a:r>
            <a:endParaRPr sz="110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t/>
            </a:r>
            <a:endParaRPr sz="1100"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347" name="Google Shape;347;p37"/>
          <p:cNvSpPr txBox="1"/>
          <p:nvPr>
            <p:ph idx="1" type="body"/>
          </p:nvPr>
        </p:nvSpPr>
        <p:spPr>
          <a:xfrm>
            <a:off x="457200" y="1194801"/>
            <a:ext cx="7886700" cy="3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500">
                <a:latin typeface="DFKai-SB"/>
                <a:ea typeface="DFKai-SB"/>
                <a:cs typeface="DFKai-SB"/>
                <a:sym typeface="DFKai-SB"/>
              </a:rPr>
              <a:t>https://github.com/oscarchen29-ux/enterprise-knowledge-agent</a:t>
            </a:r>
            <a:br>
              <a:rPr lang="zh-TW" sz="2500">
                <a:latin typeface="DFKai-SB"/>
                <a:ea typeface="DFKai-SB"/>
                <a:cs typeface="DFKai-SB"/>
                <a:sym typeface="DFKai-SB"/>
              </a:rPr>
            </a:br>
            <a:br>
              <a:rPr lang="zh-TW" sz="2500">
                <a:latin typeface="DFKai-SB"/>
                <a:ea typeface="DFKai-SB"/>
                <a:cs typeface="DFKai-SB"/>
                <a:sym typeface="DFKai-SB"/>
              </a:rPr>
            </a:br>
            <a:br>
              <a:rPr lang="zh-TW" sz="2500">
                <a:latin typeface="DFKai-SB"/>
                <a:ea typeface="DFKai-SB"/>
                <a:cs typeface="DFKai-SB"/>
                <a:sym typeface="DFKai-SB"/>
              </a:rPr>
            </a:br>
            <a:br>
              <a:rPr lang="zh-TW" sz="2500">
                <a:latin typeface="DFKai-SB"/>
                <a:ea typeface="DFKai-SB"/>
                <a:cs typeface="DFKai-SB"/>
                <a:sym typeface="DFKai-SB"/>
              </a:rPr>
            </a:br>
            <a:br>
              <a:rPr lang="zh-TW" sz="2500">
                <a:latin typeface="DFKai-SB"/>
                <a:ea typeface="DFKai-SB"/>
                <a:cs typeface="DFKai-SB"/>
                <a:sym typeface="DFKai-SB"/>
              </a:rPr>
            </a:br>
            <a:endParaRPr sz="2500"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8"/>
          <p:cNvSpPr txBox="1"/>
          <p:nvPr>
            <p:ph type="title"/>
          </p:nvPr>
        </p:nvSpPr>
        <p:spPr>
          <a:xfrm>
            <a:off x="663157" y="1310282"/>
            <a:ext cx="7809600" cy="1707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5207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TW"/>
              <a:t>4. Current Progress</a:t>
            </a:r>
            <a:endParaRPr i="1" sz="2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9"/>
          <p:cNvSpPr txBox="1"/>
          <p:nvPr>
            <p:ph type="title"/>
          </p:nvPr>
        </p:nvSpPr>
        <p:spPr>
          <a:xfrm>
            <a:off x="457200" y="273850"/>
            <a:ext cx="86868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Times New Roman"/>
              <a:buNone/>
            </a:pPr>
            <a:r>
              <a:rPr lang="zh-TW" sz="4400">
                <a:latin typeface="Arial"/>
                <a:ea typeface="Arial"/>
                <a:cs typeface="Arial"/>
                <a:sym typeface="Arial"/>
              </a:rPr>
              <a:t>開發流程</a:t>
            </a:r>
            <a:endParaRPr sz="1100"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360" name="Google Shape;360;p39"/>
          <p:cNvSpPr txBox="1"/>
          <p:nvPr>
            <p:ph idx="1" type="body"/>
          </p:nvPr>
        </p:nvSpPr>
        <p:spPr>
          <a:xfrm>
            <a:off x="457200" y="1194800"/>
            <a:ext cx="5354400" cy="3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1900">
                <a:latin typeface="Arial"/>
              </a:rPr>
              <a:t>1. 建立 provider 抽象層 + 最小 agent 迴圈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900">
                <a:latin typeface="Arial"/>
              </a:rPr>
              <a:t>2. 加入自我驗證步驟，修正幻覺問題</a:t>
            </a:r>
          </a:p>
          <a:p>
            <a:pPr/>
            <a:r>
              <a:rPr sz="1900">
                <a:latin typeface="Arial"/>
              </a:rPr>
              <a:t>3. 換成暨大資工系真實文件當知識庫(17份)</a:t>
            </a:r>
          </a:p>
          <a:p>
            <a:pPr/>
            <a:r>
              <a:rPr sz="1900">
                <a:latin typeface="Arial"/>
              </a:rPr>
              <a:t>4. 發現並修正簡體字輸出問題(OpenCC)</a:t>
            </a:r>
          </a:p>
          <a:p>
            <a:pPr/>
            <a:r>
              <a:rPr sz="1900">
                <a:latin typeface="Arial"/>
              </a:rPr>
              <a:t>5. 修正工具呼叫當機與檢索排序問題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0"/>
          <p:cNvSpPr txBox="1"/>
          <p:nvPr>
            <p:ph type="title"/>
          </p:nvPr>
        </p:nvSpPr>
        <p:spPr>
          <a:xfrm>
            <a:off x="457200" y="273844"/>
            <a:ext cx="80583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lang="zh-TW" sz="2800">
                <a:latin typeface="Arial"/>
                <a:ea typeface="Arial"/>
                <a:cs typeface="Arial"/>
                <a:sym typeface="Arial"/>
              </a:rPr>
              <a:t>知識庫規模</a:t>
            </a:r>
            <a:endParaRPr sz="1100"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368" name="Google Shape;368;p40"/>
          <p:cNvSpPr txBox="1"/>
          <p:nvPr>
            <p:ph idx="1" type="body"/>
          </p:nvPr>
        </p:nvSpPr>
        <p:spPr>
          <a:xfrm>
            <a:off x="457200" y="1060800"/>
            <a:ext cx="7389900" cy="36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400">
                <a:latin typeface="Arial"/>
              </a:rPr>
              <a:t>校級規定：12 份(學則、請假、獎懲、離校程序等)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2400">
                <a:latin typeface="Arial"/>
              </a:rPr>
              <a:t>系級規定：5 份(必選修科目表、修業規則等)</a:t>
            </a:r>
          </a:p>
          <a:p>
            <a:pPr/>
            <a:r>
              <a:rPr sz="2400">
                <a:latin typeface="Arial"/>
              </a:rPr>
              <a:t>總計：約 82KB、2.9萬字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1"/>
          <p:cNvSpPr txBox="1"/>
          <p:nvPr>
            <p:ph type="title"/>
          </p:nvPr>
        </p:nvSpPr>
        <p:spPr>
          <a:xfrm>
            <a:off x="457200" y="273844"/>
            <a:ext cx="80583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lang="zh-TW" sz="2800">
                <a:latin typeface="Arial"/>
                <a:ea typeface="Arial"/>
                <a:cs typeface="Arial"/>
                <a:sym typeface="Arial"/>
              </a:rPr>
              <a:t>實際執行結果</a:t>
            </a:r>
            <a:endParaRPr sz="1100"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377" name="Picture 376" descr="assets_demo_succ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4425" y="1188720"/>
            <a:ext cx="6275149" cy="3611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76" name="Google Shape;376;p41"/>
          <p:cNvSpPr txBox="1"/>
          <p:nvPr>
            <p:ph type="title"/>
          </p:nvPr>
        </p:nvSpPr>
        <p:spPr>
          <a:xfrm>
            <a:off x="457200" y="273844"/>
            <a:ext cx="80583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lang="zh-TW" sz="2800">
                <a:latin typeface="Arial"/>
                <a:ea typeface="Arial"/>
                <a:cs typeface="Arial"/>
                <a:sym typeface="Arial"/>
              </a:rPr>
              <a:t>已知限制：關鍵字檢索分不清學制</a:t>
            </a:r>
            <a:endParaRPr sz="1100"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377" name="Picture 376" descr="assets_demo_fail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07" y="1188720"/>
            <a:ext cx="6534185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2"/>
          <p:cNvSpPr txBox="1"/>
          <p:nvPr>
            <p:ph type="title"/>
          </p:nvPr>
        </p:nvSpPr>
        <p:spPr>
          <a:xfrm>
            <a:off x="663157" y="1310282"/>
            <a:ext cx="7809600" cy="1707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5207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TW"/>
              <a:t>5. TODO List</a:t>
            </a:r>
            <a:endParaRPr i="1" sz="2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3"/>
          <p:cNvSpPr txBox="1"/>
          <p:nvPr>
            <p:ph type="title"/>
          </p:nvPr>
        </p:nvSpPr>
        <p:spPr>
          <a:xfrm>
            <a:off x="457200" y="273844"/>
            <a:ext cx="80583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lang="zh-TW" sz="2900"/>
              <a:t>向量檢索與正式評估</a:t>
            </a:r>
            <a:endParaRPr sz="2900"/>
          </a:p>
        </p:txBody>
      </p:sp>
      <p:sp>
        <p:nvSpPr>
          <p:cNvPr id="389" name="Google Shape;389;p43"/>
          <p:cNvSpPr txBox="1"/>
          <p:nvPr>
            <p:ph idx="1" type="body"/>
          </p:nvPr>
        </p:nvSpPr>
        <p:spPr>
          <a:xfrm>
            <a:off x="410225" y="1006925"/>
            <a:ext cx="7886700" cy="39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>目前是關鍵字比對，下一步換成 embedding + 向量檢索(Chroma)</a:t>
            </a:r>
            <a:endParaRPr sz="2127">
              <a:latin typeface="Arial"/>
              <a:ea typeface="Arial"/>
              <a:cs typeface="Arial"/>
              <a:sym typeface="Arial"/>
            </a:endParaRPr>
          </a:p>
          <a:p>
            <a:pPr/>
            <a:r>
              <a:t>設計 20-30 題多步驟任務 benchmark，量化準確率與幻覺率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title"/>
          </p:nvPr>
        </p:nvSpPr>
        <p:spPr>
          <a:xfrm>
            <a:off x="663157" y="1310282"/>
            <a:ext cx="7809600" cy="1707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5207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TW"/>
              <a:t>謝謝聆聽</a:t>
            </a:r>
            <a:endParaRPr i="1" sz="2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9" name="Google Shape;339;p36"/>
          <p:cNvSpPr txBox="1"/>
          <p:nvPr>
            <p:ph type="title"/>
          </p:nvPr>
        </p:nvSpPr>
        <p:spPr>
          <a:xfrm>
            <a:off x="457200" y="273850"/>
            <a:ext cx="81801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lang="zh-TW" sz="2800"/>
              <a:t>背景：Transformer 架構</a:t>
            </a:r>
            <a:endParaRPr sz="2800"/>
          </a:p>
        </p:txBody>
      </p:sp>
      <p:sp>
        <p:nvSpPr>
          <p:cNvPr id="340" name="Google Shape;340;p36"/>
          <p:cNvSpPr txBox="1"/>
          <p:nvPr>
            <p:ph idx="1" type="body"/>
          </p:nvPr>
        </p:nvSpPr>
        <p:spPr>
          <a:xfrm>
            <a:off x="504388" y="1147613"/>
            <a:ext cx="7886700" cy="3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1600"/>
              <a:t>2017 年 Google 團隊論文《Attention Is All You Need》提出</a:t>
            </a:r>
            <a:endParaRPr sz="1600"/>
          </a:p>
          <a:p>
            <a:r>
              <a:rPr sz="1600"/>
              <a:t>捨棄過去逐字依序處理的 RNN，改為完全依賴注意力機制</a:t>
            </a:r>
          </a:p>
          <a:p>
            <a:r>
              <a:rPr sz="1600"/>
              <a:t>可平行運算、也更能捕捉長距離的語意關聯</a:t>
            </a:r>
          </a:p>
          <a:p>
            <a:r>
              <a:rPr sz="1600"/>
              <a:t>今天所有主流大型語言模型都建立在這個架構之上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9" name="Google Shape;339;p36"/>
          <p:cNvSpPr txBox="1"/>
          <p:nvPr>
            <p:ph type="title"/>
          </p:nvPr>
        </p:nvSpPr>
        <p:spPr>
          <a:xfrm>
            <a:off x="457200" y="273850"/>
            <a:ext cx="81801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lang="zh-TW" sz="2800"/>
              <a:t>背景：注意力機制在做什麼</a:t>
            </a:r>
            <a:endParaRPr sz="2800"/>
          </a:p>
        </p:txBody>
      </p:sp>
      <p:pic>
        <p:nvPicPr>
          <p:cNvPr id="340" name="Picture 339" descr="assets_at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87" y="1325880"/>
            <a:ext cx="7616224" cy="3383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