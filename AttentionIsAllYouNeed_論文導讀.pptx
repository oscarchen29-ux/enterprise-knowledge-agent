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9" r:id="rId4"/>
    <p:sldMasterId id="2147483670" r:id="rId5"/>
  </p:sldMasterIdLst>
  <p:notesMasterIdLst>
    <p:notesMasterId r:id="rId6"/>
  </p:notesMasterIdLst>
  <p:sldIdLst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08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08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9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19.png"/><Relationship Id="rId4" Type="http://schemas.openxmlformats.org/officeDocument/2006/relationships/image" Target="../media/image5.png"/><Relationship Id="rId5" Type="http://schemas.openxmlformats.org/officeDocument/2006/relationships/image" Target="../media/image3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學生報告封面">
  <p:cSld name="學生報告封面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/>
          <p:nvPr/>
        </p:nvSpPr>
        <p:spPr>
          <a:xfrm>
            <a:off x="-6998" y="-1"/>
            <a:ext cx="3252831" cy="5143500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0" name="Google Shape;7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09884" y="146119"/>
            <a:ext cx="1233060" cy="123306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4"/>
          <p:cNvSpPr txBox="1"/>
          <p:nvPr>
            <p:ph type="ctrTitle"/>
          </p:nvPr>
        </p:nvSpPr>
        <p:spPr>
          <a:xfrm>
            <a:off x="177923" y="1525298"/>
            <a:ext cx="2896985" cy="1061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72" name="Google Shape;72;p14"/>
          <p:cNvCxnSpPr/>
          <p:nvPr/>
        </p:nvCxnSpPr>
        <p:spPr>
          <a:xfrm>
            <a:off x="123602" y="2587029"/>
            <a:ext cx="3005624" cy="0"/>
          </a:xfrm>
          <a:prstGeom prst="straightConnector1">
            <a:avLst/>
          </a:prstGeom>
          <a:noFill/>
          <a:ln cap="flat" cmpd="sng" w="28575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3" name="Google Shape;73;p14"/>
          <p:cNvCxnSpPr/>
          <p:nvPr/>
        </p:nvCxnSpPr>
        <p:spPr>
          <a:xfrm>
            <a:off x="3245833" y="4968244"/>
            <a:ext cx="4360949" cy="0"/>
          </a:xfrm>
          <a:prstGeom prst="straightConnector1">
            <a:avLst/>
          </a:prstGeom>
          <a:noFill/>
          <a:ln cap="flat" cmpd="sng" w="28575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74" name="Google Shape;7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06782" y="4791008"/>
            <a:ext cx="1079086" cy="402371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4"/>
          <p:cNvSpPr txBox="1"/>
          <p:nvPr>
            <p:ph idx="1" type="subTitle"/>
          </p:nvPr>
        </p:nvSpPr>
        <p:spPr>
          <a:xfrm>
            <a:off x="3657945" y="1006161"/>
            <a:ext cx="5027923" cy="313117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6" name="Google Shape;76;p14"/>
          <p:cNvSpPr txBox="1"/>
          <p:nvPr/>
        </p:nvSpPr>
        <p:spPr>
          <a:xfrm>
            <a:off x="177923" y="3256532"/>
            <a:ext cx="2896985" cy="27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zh-TW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指導教授：周信宏　副教授</a:t>
            </a:r>
            <a:endParaRPr sz="1100"/>
          </a:p>
        </p:txBody>
      </p:sp>
      <p:grpSp>
        <p:nvGrpSpPr>
          <p:cNvPr id="77" name="Google Shape;77;p14"/>
          <p:cNvGrpSpPr/>
          <p:nvPr/>
        </p:nvGrpSpPr>
        <p:grpSpPr>
          <a:xfrm rot="-228623">
            <a:off x="-173784" y="3588333"/>
            <a:ext cx="2069858" cy="1874554"/>
            <a:chOff x="-1349966" y="36601"/>
            <a:chExt cx="8161752" cy="7391646"/>
          </a:xfrm>
        </p:grpSpPr>
        <p:pic>
          <p:nvPicPr>
            <p:cNvPr descr="棋盤圖- 維基百科，自由的百科全書" id="78" name="Google Shape;78;p1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-233470">
              <a:off x="403179" y="1019642"/>
              <a:ext cx="6205212" cy="6205210"/>
            </a:xfrm>
            <a:prstGeom prst="rect">
              <a:avLst/>
            </a:prstGeom>
            <a:noFill/>
            <a:ln cap="flat" cmpd="sng" w="349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17500" algn="ctr">
                <a:srgbClr val="000000">
                  <a:alpha val="42745"/>
                </a:srgbClr>
              </a:outerShdw>
            </a:effectLst>
          </p:spPr>
        </p:pic>
        <p:grpSp>
          <p:nvGrpSpPr>
            <p:cNvPr id="79" name="Google Shape;79;p14"/>
            <p:cNvGrpSpPr/>
            <p:nvPr/>
          </p:nvGrpSpPr>
          <p:grpSpPr>
            <a:xfrm flipH="1" rot="989811">
              <a:off x="-848914" y="653174"/>
              <a:ext cx="4958420" cy="4247800"/>
              <a:chOff x="3966256" y="542455"/>
              <a:chExt cx="3376325" cy="3237462"/>
            </a:xfrm>
          </p:grpSpPr>
          <p:pic>
            <p:nvPicPr>
              <p:cNvPr id="80" name="Google Shape;80;p14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rot="-1759918">
                <a:off x="4349239" y="1037799"/>
                <a:ext cx="2610359" cy="224677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81" name="Google Shape;81;p14"/>
              <p:cNvSpPr/>
              <p:nvPr/>
            </p:nvSpPr>
            <p:spPr>
              <a:xfrm rot="-1458812">
                <a:off x="4821886" y="2777047"/>
                <a:ext cx="1018360" cy="595745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20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82" name="Google Shape;82;p14"/>
          <p:cNvSpPr txBox="1"/>
          <p:nvPr/>
        </p:nvSpPr>
        <p:spPr>
          <a:xfrm>
            <a:off x="177923" y="2851093"/>
            <a:ext cx="2896985" cy="27230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 lnSpcReduction="1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b="0" i="0" lang="zh-TW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報告學生：</a:t>
            </a:r>
            <a:endParaRPr sz="1100"/>
          </a:p>
        </p:txBody>
      </p:sp>
      <p:sp>
        <p:nvSpPr>
          <p:cNvPr id="83" name="Google Shape;83;p14"/>
          <p:cNvSpPr txBox="1"/>
          <p:nvPr>
            <p:ph idx="2" type="body"/>
          </p:nvPr>
        </p:nvSpPr>
        <p:spPr>
          <a:xfrm>
            <a:off x="1128016" y="2850728"/>
            <a:ext cx="1897014" cy="272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utline">
  <p:cSld name="Outline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5" name="Google Shape;85;p15"/>
          <p:cNvCxnSpPr/>
          <p:nvPr/>
        </p:nvCxnSpPr>
        <p:spPr>
          <a:xfrm>
            <a:off x="0" y="4954854"/>
            <a:ext cx="4051160" cy="8138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86" name="Google Shape;86;p15"/>
          <p:cNvCxnSpPr/>
          <p:nvPr/>
        </p:nvCxnSpPr>
        <p:spPr>
          <a:xfrm>
            <a:off x="457200" y="885825"/>
            <a:ext cx="8686800" cy="0"/>
          </a:xfrm>
          <a:prstGeom prst="straightConnector1">
            <a:avLst/>
          </a:prstGeom>
          <a:noFill/>
          <a:ln cap="flat" cmpd="sng" w="28575">
            <a:solidFill>
              <a:srgbClr val="4B91D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87" name="Google Shape;87;p15"/>
          <p:cNvSpPr txBox="1"/>
          <p:nvPr>
            <p:ph idx="1" type="body"/>
          </p:nvPr>
        </p:nvSpPr>
        <p:spPr>
          <a:xfrm>
            <a:off x="457200" y="1194791"/>
            <a:ext cx="78867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cxnSp>
        <p:nvCxnSpPr>
          <p:cNvPr id="88" name="Google Shape;88;p15"/>
          <p:cNvCxnSpPr/>
          <p:nvPr/>
        </p:nvCxnSpPr>
        <p:spPr>
          <a:xfrm>
            <a:off x="5127959" y="4954500"/>
            <a:ext cx="3110200" cy="8314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89" name="Google Shape;89;p15"/>
          <p:cNvGrpSpPr/>
          <p:nvPr/>
        </p:nvGrpSpPr>
        <p:grpSpPr>
          <a:xfrm>
            <a:off x="4156073" y="4875892"/>
            <a:ext cx="869261" cy="273842"/>
            <a:chOff x="1556910" y="1526777"/>
            <a:chExt cx="6957916" cy="2665279"/>
          </a:xfrm>
        </p:grpSpPr>
        <p:sp>
          <p:nvSpPr>
            <p:cNvPr id="90" name="Google Shape;90;p15"/>
            <p:cNvSpPr/>
            <p:nvPr/>
          </p:nvSpPr>
          <p:spPr>
            <a:xfrm>
              <a:off x="4284168" y="1566301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1" name="Google Shape;91;p15"/>
            <p:cNvSpPr/>
            <p:nvPr/>
          </p:nvSpPr>
          <p:spPr>
            <a:xfrm flipH="1">
              <a:off x="5249232" y="1526777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92" name="Google Shape;92;p15"/>
            <p:cNvCxnSpPr/>
            <p:nvPr/>
          </p:nvCxnSpPr>
          <p:spPr>
            <a:xfrm>
              <a:off x="3263317" y="1526796"/>
              <a:ext cx="947956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93" name="Google Shape;93;p15"/>
            <p:cNvSpPr/>
            <p:nvPr/>
          </p:nvSpPr>
          <p:spPr>
            <a:xfrm>
              <a:off x="1556910" y="1526795"/>
              <a:ext cx="1212204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4" name="Google Shape;94;p15"/>
            <p:cNvSpPr/>
            <p:nvPr/>
          </p:nvSpPr>
          <p:spPr>
            <a:xfrm flipH="1">
              <a:off x="2941089" y="1526795"/>
              <a:ext cx="763394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2222301" y="1526786"/>
              <a:ext cx="1109437" cy="461384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6" name="Google Shape;96;p15"/>
            <p:cNvSpPr/>
            <p:nvPr/>
          </p:nvSpPr>
          <p:spPr>
            <a:xfrm flipH="1">
              <a:off x="7302617" y="1526786"/>
              <a:ext cx="1212209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6377031" y="1526786"/>
              <a:ext cx="763397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8" name="Google Shape;98;p15"/>
            <p:cNvSpPr/>
            <p:nvPr/>
          </p:nvSpPr>
          <p:spPr>
            <a:xfrm flipH="1">
              <a:off x="6717486" y="1526777"/>
              <a:ext cx="1109442" cy="461388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1922742" y="2709648"/>
              <a:ext cx="1603695" cy="360721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6619177" y="2709643"/>
              <a:ext cx="1554760" cy="360717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01" name="Google Shape;101;p15"/>
          <p:cNvSpPr/>
          <p:nvPr/>
        </p:nvSpPr>
        <p:spPr>
          <a:xfrm rot="5400000">
            <a:off x="-2468168" y="2468165"/>
            <a:ext cx="5143502" cy="207169"/>
          </a:xfrm>
          <a:prstGeom prst="rect">
            <a:avLst/>
          </a:prstGeom>
          <a:solidFill>
            <a:srgbClr val="C5DC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8256419" y="4816838"/>
            <a:ext cx="4110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500" u="none" cap="none" strike="noStrike">
                <a:solidFill>
                  <a:srgbClr val="6F6F6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500" u="none" cap="none" strike="noStrike">
              <a:solidFill>
                <a:srgbClr val="6F6F6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457200" y="273843"/>
            <a:ext cx="8058150" cy="61195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</a:pPr>
            <a:r>
              <a:rPr b="0" i="0" lang="zh-TW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Outline</a:t>
            </a:r>
            <a:endParaRPr b="0" i="0" sz="3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節標題">
  <p:cSld name="章節標題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5" name="Google Shape;105;p16"/>
          <p:cNvCxnSpPr/>
          <p:nvPr/>
        </p:nvCxnSpPr>
        <p:spPr>
          <a:xfrm>
            <a:off x="0" y="4954854"/>
            <a:ext cx="4051160" cy="8138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6" name="Google Shape;106;p16"/>
          <p:cNvSpPr/>
          <p:nvPr/>
        </p:nvSpPr>
        <p:spPr>
          <a:xfrm rot="5400000">
            <a:off x="-2468168" y="2468165"/>
            <a:ext cx="5143502" cy="207169"/>
          </a:xfrm>
          <a:prstGeom prst="rect">
            <a:avLst/>
          </a:prstGeom>
          <a:solidFill>
            <a:srgbClr val="C5DC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16"/>
          <p:cNvSpPr/>
          <p:nvPr/>
        </p:nvSpPr>
        <p:spPr>
          <a:xfrm>
            <a:off x="0" y="1310282"/>
            <a:ext cx="9144000" cy="1707356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" name="Google Shape;108;p16"/>
          <p:cNvSpPr txBox="1"/>
          <p:nvPr>
            <p:ph type="title"/>
          </p:nvPr>
        </p:nvSpPr>
        <p:spPr>
          <a:xfrm>
            <a:off x="663157" y="1310281"/>
            <a:ext cx="7809591" cy="170735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09" name="Google Shape;109;p16"/>
          <p:cNvCxnSpPr/>
          <p:nvPr/>
        </p:nvCxnSpPr>
        <p:spPr>
          <a:xfrm>
            <a:off x="5127959" y="4954040"/>
            <a:ext cx="3500652" cy="4157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10" name="Google Shape;110;p16"/>
          <p:cNvGrpSpPr/>
          <p:nvPr/>
        </p:nvGrpSpPr>
        <p:grpSpPr>
          <a:xfrm>
            <a:off x="4156073" y="4875892"/>
            <a:ext cx="869261" cy="273842"/>
            <a:chOff x="1556910" y="1526777"/>
            <a:chExt cx="6957916" cy="2665279"/>
          </a:xfrm>
        </p:grpSpPr>
        <p:sp>
          <p:nvSpPr>
            <p:cNvPr id="111" name="Google Shape;111;p16"/>
            <p:cNvSpPr/>
            <p:nvPr/>
          </p:nvSpPr>
          <p:spPr>
            <a:xfrm>
              <a:off x="4284168" y="1566301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2" name="Google Shape;112;p16"/>
            <p:cNvSpPr/>
            <p:nvPr/>
          </p:nvSpPr>
          <p:spPr>
            <a:xfrm flipH="1">
              <a:off x="5249232" y="1526777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13" name="Google Shape;113;p16"/>
            <p:cNvCxnSpPr/>
            <p:nvPr/>
          </p:nvCxnSpPr>
          <p:spPr>
            <a:xfrm>
              <a:off x="3263317" y="1526796"/>
              <a:ext cx="947956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114" name="Google Shape;114;p16"/>
            <p:cNvSpPr/>
            <p:nvPr/>
          </p:nvSpPr>
          <p:spPr>
            <a:xfrm>
              <a:off x="1556910" y="1526795"/>
              <a:ext cx="1212204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5" name="Google Shape;115;p16"/>
            <p:cNvSpPr/>
            <p:nvPr/>
          </p:nvSpPr>
          <p:spPr>
            <a:xfrm flipH="1">
              <a:off x="2941089" y="1526795"/>
              <a:ext cx="763394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6" name="Google Shape;116;p16"/>
            <p:cNvSpPr/>
            <p:nvPr/>
          </p:nvSpPr>
          <p:spPr>
            <a:xfrm>
              <a:off x="2222301" y="1526786"/>
              <a:ext cx="1109437" cy="461384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7" name="Google Shape;117;p16"/>
            <p:cNvSpPr/>
            <p:nvPr/>
          </p:nvSpPr>
          <p:spPr>
            <a:xfrm flipH="1">
              <a:off x="7302617" y="1526786"/>
              <a:ext cx="1212209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8" name="Google Shape;118;p16"/>
            <p:cNvSpPr/>
            <p:nvPr/>
          </p:nvSpPr>
          <p:spPr>
            <a:xfrm>
              <a:off x="6377031" y="1526786"/>
              <a:ext cx="763397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19" name="Google Shape;119;p16"/>
            <p:cNvSpPr/>
            <p:nvPr/>
          </p:nvSpPr>
          <p:spPr>
            <a:xfrm flipH="1">
              <a:off x="6717486" y="1526777"/>
              <a:ext cx="1109442" cy="461388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0" name="Google Shape;120;p16"/>
            <p:cNvSpPr/>
            <p:nvPr/>
          </p:nvSpPr>
          <p:spPr>
            <a:xfrm>
              <a:off x="1922742" y="2709648"/>
              <a:ext cx="1603695" cy="360721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1" name="Google Shape;121;p16"/>
            <p:cNvSpPr/>
            <p:nvPr/>
          </p:nvSpPr>
          <p:spPr>
            <a:xfrm>
              <a:off x="6619177" y="2709643"/>
              <a:ext cx="1554760" cy="360717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只有內容">
  <p:cSld name="只有內容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3" name="Google Shape;123;p17"/>
          <p:cNvCxnSpPr/>
          <p:nvPr/>
        </p:nvCxnSpPr>
        <p:spPr>
          <a:xfrm>
            <a:off x="0" y="4954854"/>
            <a:ext cx="4051160" cy="8138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4" name="Google Shape;124;p17"/>
          <p:cNvSpPr txBox="1"/>
          <p:nvPr>
            <p:ph idx="1" type="body"/>
          </p:nvPr>
        </p:nvSpPr>
        <p:spPr>
          <a:xfrm>
            <a:off x="457200" y="649702"/>
            <a:ext cx="7886700" cy="380859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grpSp>
        <p:nvGrpSpPr>
          <p:cNvPr id="125" name="Google Shape;125;p17"/>
          <p:cNvGrpSpPr/>
          <p:nvPr/>
        </p:nvGrpSpPr>
        <p:grpSpPr>
          <a:xfrm>
            <a:off x="4156073" y="4875892"/>
            <a:ext cx="869261" cy="273842"/>
            <a:chOff x="1556910" y="1526777"/>
            <a:chExt cx="6957916" cy="2665279"/>
          </a:xfrm>
        </p:grpSpPr>
        <p:sp>
          <p:nvSpPr>
            <p:cNvPr id="126" name="Google Shape;126;p17"/>
            <p:cNvSpPr/>
            <p:nvPr/>
          </p:nvSpPr>
          <p:spPr>
            <a:xfrm>
              <a:off x="4284168" y="1566301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27" name="Google Shape;127;p17"/>
            <p:cNvSpPr/>
            <p:nvPr/>
          </p:nvSpPr>
          <p:spPr>
            <a:xfrm flipH="1">
              <a:off x="5249232" y="1526777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28" name="Google Shape;128;p17"/>
            <p:cNvCxnSpPr/>
            <p:nvPr/>
          </p:nvCxnSpPr>
          <p:spPr>
            <a:xfrm>
              <a:off x="3263317" y="1526796"/>
              <a:ext cx="947956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129" name="Google Shape;129;p17"/>
            <p:cNvSpPr/>
            <p:nvPr/>
          </p:nvSpPr>
          <p:spPr>
            <a:xfrm>
              <a:off x="1556910" y="1526795"/>
              <a:ext cx="1212204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0" name="Google Shape;130;p17"/>
            <p:cNvSpPr/>
            <p:nvPr/>
          </p:nvSpPr>
          <p:spPr>
            <a:xfrm flipH="1">
              <a:off x="2941089" y="1526795"/>
              <a:ext cx="763394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1" name="Google Shape;131;p17"/>
            <p:cNvSpPr/>
            <p:nvPr/>
          </p:nvSpPr>
          <p:spPr>
            <a:xfrm>
              <a:off x="2222301" y="1526786"/>
              <a:ext cx="1109437" cy="461384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2" name="Google Shape;132;p17"/>
            <p:cNvSpPr/>
            <p:nvPr/>
          </p:nvSpPr>
          <p:spPr>
            <a:xfrm flipH="1">
              <a:off x="7302617" y="1526786"/>
              <a:ext cx="1212209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3" name="Google Shape;133;p17"/>
            <p:cNvSpPr/>
            <p:nvPr/>
          </p:nvSpPr>
          <p:spPr>
            <a:xfrm>
              <a:off x="6377031" y="1526786"/>
              <a:ext cx="763397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4" name="Google Shape;134;p17"/>
            <p:cNvSpPr/>
            <p:nvPr/>
          </p:nvSpPr>
          <p:spPr>
            <a:xfrm flipH="1">
              <a:off x="6717486" y="1526777"/>
              <a:ext cx="1109442" cy="461388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5" name="Google Shape;135;p17"/>
            <p:cNvSpPr/>
            <p:nvPr/>
          </p:nvSpPr>
          <p:spPr>
            <a:xfrm>
              <a:off x="1922742" y="2709648"/>
              <a:ext cx="1603695" cy="360721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36" name="Google Shape;136;p17"/>
            <p:cNvSpPr/>
            <p:nvPr/>
          </p:nvSpPr>
          <p:spPr>
            <a:xfrm>
              <a:off x="6619177" y="2709643"/>
              <a:ext cx="1554760" cy="360717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37" name="Google Shape;137;p17"/>
          <p:cNvSpPr/>
          <p:nvPr/>
        </p:nvSpPr>
        <p:spPr>
          <a:xfrm rot="5400000">
            <a:off x="-2468168" y="2468165"/>
            <a:ext cx="5143502" cy="207169"/>
          </a:xfrm>
          <a:prstGeom prst="rect">
            <a:avLst/>
          </a:prstGeom>
          <a:solidFill>
            <a:srgbClr val="C5DC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38" name="Google Shape;138;p17"/>
          <p:cNvCxnSpPr/>
          <p:nvPr/>
        </p:nvCxnSpPr>
        <p:spPr>
          <a:xfrm>
            <a:off x="5127959" y="4954500"/>
            <a:ext cx="3110200" cy="8314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9" name="Google Shape;139;p17"/>
          <p:cNvSpPr txBox="1"/>
          <p:nvPr/>
        </p:nvSpPr>
        <p:spPr>
          <a:xfrm>
            <a:off x="8256419" y="4816838"/>
            <a:ext cx="4110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500" u="none" cap="none" strike="noStrike">
                <a:solidFill>
                  <a:srgbClr val="6F6F6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500" u="none" cap="none" strike="noStrike">
              <a:solidFill>
                <a:srgbClr val="6F6F6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標題與內容">
  <p:cSld name="標題與內容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1" name="Google Shape;141;p18"/>
          <p:cNvCxnSpPr/>
          <p:nvPr/>
        </p:nvCxnSpPr>
        <p:spPr>
          <a:xfrm>
            <a:off x="0" y="4954854"/>
            <a:ext cx="4051160" cy="8138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2" name="Google Shape;142;p18"/>
          <p:cNvSpPr txBox="1"/>
          <p:nvPr>
            <p:ph type="title"/>
          </p:nvPr>
        </p:nvSpPr>
        <p:spPr>
          <a:xfrm>
            <a:off x="457200" y="273844"/>
            <a:ext cx="8058150" cy="61198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43" name="Google Shape;143;p18"/>
          <p:cNvCxnSpPr/>
          <p:nvPr/>
        </p:nvCxnSpPr>
        <p:spPr>
          <a:xfrm>
            <a:off x="457200" y="885825"/>
            <a:ext cx="8686800" cy="0"/>
          </a:xfrm>
          <a:prstGeom prst="straightConnector1">
            <a:avLst/>
          </a:prstGeom>
          <a:noFill/>
          <a:ln cap="flat" cmpd="sng" w="28575">
            <a:solidFill>
              <a:srgbClr val="4B91D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4" name="Google Shape;144;p18"/>
          <p:cNvSpPr txBox="1"/>
          <p:nvPr>
            <p:ph idx="1" type="body"/>
          </p:nvPr>
        </p:nvSpPr>
        <p:spPr>
          <a:xfrm>
            <a:off x="457200" y="1194791"/>
            <a:ext cx="7886700" cy="326350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grpSp>
        <p:nvGrpSpPr>
          <p:cNvPr id="145" name="Google Shape;145;p18"/>
          <p:cNvGrpSpPr/>
          <p:nvPr/>
        </p:nvGrpSpPr>
        <p:grpSpPr>
          <a:xfrm>
            <a:off x="4156073" y="4875892"/>
            <a:ext cx="869261" cy="273842"/>
            <a:chOff x="1556910" y="1526777"/>
            <a:chExt cx="6957916" cy="2665279"/>
          </a:xfrm>
        </p:grpSpPr>
        <p:sp>
          <p:nvSpPr>
            <p:cNvPr id="146" name="Google Shape;146;p18"/>
            <p:cNvSpPr/>
            <p:nvPr/>
          </p:nvSpPr>
          <p:spPr>
            <a:xfrm>
              <a:off x="4284168" y="1566301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7" name="Google Shape;147;p18"/>
            <p:cNvSpPr/>
            <p:nvPr/>
          </p:nvSpPr>
          <p:spPr>
            <a:xfrm flipH="1">
              <a:off x="5249232" y="1526777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48" name="Google Shape;148;p18"/>
            <p:cNvCxnSpPr/>
            <p:nvPr/>
          </p:nvCxnSpPr>
          <p:spPr>
            <a:xfrm>
              <a:off x="3263317" y="1526796"/>
              <a:ext cx="947956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149" name="Google Shape;149;p18"/>
            <p:cNvSpPr/>
            <p:nvPr/>
          </p:nvSpPr>
          <p:spPr>
            <a:xfrm>
              <a:off x="1556910" y="1526795"/>
              <a:ext cx="1212204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0" name="Google Shape;150;p18"/>
            <p:cNvSpPr/>
            <p:nvPr/>
          </p:nvSpPr>
          <p:spPr>
            <a:xfrm flipH="1">
              <a:off x="2941089" y="1526795"/>
              <a:ext cx="763394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1" name="Google Shape;151;p18"/>
            <p:cNvSpPr/>
            <p:nvPr/>
          </p:nvSpPr>
          <p:spPr>
            <a:xfrm>
              <a:off x="2222301" y="1526786"/>
              <a:ext cx="1109437" cy="461384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2" name="Google Shape;152;p18"/>
            <p:cNvSpPr/>
            <p:nvPr/>
          </p:nvSpPr>
          <p:spPr>
            <a:xfrm flipH="1">
              <a:off x="7302617" y="1526786"/>
              <a:ext cx="1212209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3" name="Google Shape;153;p18"/>
            <p:cNvSpPr/>
            <p:nvPr/>
          </p:nvSpPr>
          <p:spPr>
            <a:xfrm>
              <a:off x="6377031" y="1526786"/>
              <a:ext cx="763397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4" name="Google Shape;154;p18"/>
            <p:cNvSpPr/>
            <p:nvPr/>
          </p:nvSpPr>
          <p:spPr>
            <a:xfrm flipH="1">
              <a:off x="6717486" y="1526777"/>
              <a:ext cx="1109442" cy="461388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5" name="Google Shape;155;p18"/>
            <p:cNvSpPr/>
            <p:nvPr/>
          </p:nvSpPr>
          <p:spPr>
            <a:xfrm>
              <a:off x="1922742" y="2709648"/>
              <a:ext cx="1603695" cy="360721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56" name="Google Shape;156;p18"/>
            <p:cNvSpPr/>
            <p:nvPr/>
          </p:nvSpPr>
          <p:spPr>
            <a:xfrm>
              <a:off x="6619177" y="2709643"/>
              <a:ext cx="1554760" cy="360717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57" name="Google Shape;157;p18"/>
          <p:cNvSpPr/>
          <p:nvPr/>
        </p:nvSpPr>
        <p:spPr>
          <a:xfrm rot="5400000">
            <a:off x="-2468168" y="2468165"/>
            <a:ext cx="5143502" cy="207169"/>
          </a:xfrm>
          <a:prstGeom prst="rect">
            <a:avLst/>
          </a:prstGeom>
          <a:solidFill>
            <a:srgbClr val="C5DC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58" name="Google Shape;158;p18"/>
          <p:cNvCxnSpPr/>
          <p:nvPr/>
        </p:nvCxnSpPr>
        <p:spPr>
          <a:xfrm>
            <a:off x="5127959" y="4954500"/>
            <a:ext cx="3110200" cy="8314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9" name="Google Shape;159;p18"/>
          <p:cNvSpPr txBox="1"/>
          <p:nvPr/>
        </p:nvSpPr>
        <p:spPr>
          <a:xfrm>
            <a:off x="8256419" y="4816838"/>
            <a:ext cx="4110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zh-TW" sz="1500" u="none" cap="none" strike="noStrike">
                <a:solidFill>
                  <a:srgbClr val="6F6F6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500" u="none" cap="none" strike="noStrike">
              <a:solidFill>
                <a:srgbClr val="6F6F6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兩個內容">
  <p:cSld name="兩個內容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1" name="Google Shape;161;p19"/>
          <p:cNvCxnSpPr/>
          <p:nvPr/>
        </p:nvCxnSpPr>
        <p:spPr>
          <a:xfrm>
            <a:off x="0" y="4954854"/>
            <a:ext cx="4051160" cy="8138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2" name="Google Shape;162;p19"/>
          <p:cNvSpPr txBox="1"/>
          <p:nvPr>
            <p:ph idx="1" type="body"/>
          </p:nvPr>
        </p:nvSpPr>
        <p:spPr>
          <a:xfrm>
            <a:off x="457200" y="1196100"/>
            <a:ext cx="4035905" cy="33192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63" name="Google Shape;163;p19"/>
          <p:cNvSpPr txBox="1"/>
          <p:nvPr>
            <p:ph idx="2" type="body"/>
          </p:nvPr>
        </p:nvSpPr>
        <p:spPr>
          <a:xfrm>
            <a:off x="4650896" y="1196100"/>
            <a:ext cx="4016532" cy="331921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grpSp>
        <p:nvGrpSpPr>
          <p:cNvPr id="164" name="Google Shape;164;p19"/>
          <p:cNvGrpSpPr/>
          <p:nvPr/>
        </p:nvGrpSpPr>
        <p:grpSpPr>
          <a:xfrm>
            <a:off x="4156073" y="4875892"/>
            <a:ext cx="869261" cy="273842"/>
            <a:chOff x="1556910" y="1526777"/>
            <a:chExt cx="6957916" cy="2665279"/>
          </a:xfrm>
        </p:grpSpPr>
        <p:sp>
          <p:nvSpPr>
            <p:cNvPr id="165" name="Google Shape;165;p19"/>
            <p:cNvSpPr/>
            <p:nvPr/>
          </p:nvSpPr>
          <p:spPr>
            <a:xfrm>
              <a:off x="4284168" y="1566301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6" name="Google Shape;166;p19"/>
            <p:cNvSpPr/>
            <p:nvPr/>
          </p:nvSpPr>
          <p:spPr>
            <a:xfrm flipH="1">
              <a:off x="5249232" y="1526777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167" name="Google Shape;167;p19"/>
            <p:cNvCxnSpPr/>
            <p:nvPr/>
          </p:nvCxnSpPr>
          <p:spPr>
            <a:xfrm>
              <a:off x="3263317" y="1526796"/>
              <a:ext cx="947956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168" name="Google Shape;168;p19"/>
            <p:cNvSpPr/>
            <p:nvPr/>
          </p:nvSpPr>
          <p:spPr>
            <a:xfrm>
              <a:off x="1556910" y="1526795"/>
              <a:ext cx="1212204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9" name="Google Shape;169;p19"/>
            <p:cNvSpPr/>
            <p:nvPr/>
          </p:nvSpPr>
          <p:spPr>
            <a:xfrm flipH="1">
              <a:off x="2941089" y="1526795"/>
              <a:ext cx="763394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0" name="Google Shape;170;p19"/>
            <p:cNvSpPr/>
            <p:nvPr/>
          </p:nvSpPr>
          <p:spPr>
            <a:xfrm>
              <a:off x="2222301" y="1526786"/>
              <a:ext cx="1109437" cy="461384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1" name="Google Shape;171;p19"/>
            <p:cNvSpPr/>
            <p:nvPr/>
          </p:nvSpPr>
          <p:spPr>
            <a:xfrm flipH="1">
              <a:off x="7302617" y="1526786"/>
              <a:ext cx="1212209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2" name="Google Shape;172;p19"/>
            <p:cNvSpPr/>
            <p:nvPr/>
          </p:nvSpPr>
          <p:spPr>
            <a:xfrm>
              <a:off x="6377031" y="1526786"/>
              <a:ext cx="763397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3" name="Google Shape;173;p19"/>
            <p:cNvSpPr/>
            <p:nvPr/>
          </p:nvSpPr>
          <p:spPr>
            <a:xfrm flipH="1">
              <a:off x="6717486" y="1526777"/>
              <a:ext cx="1109442" cy="461388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4" name="Google Shape;174;p19"/>
            <p:cNvSpPr/>
            <p:nvPr/>
          </p:nvSpPr>
          <p:spPr>
            <a:xfrm>
              <a:off x="1922742" y="2709648"/>
              <a:ext cx="1603695" cy="360721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75" name="Google Shape;175;p19"/>
            <p:cNvSpPr/>
            <p:nvPr/>
          </p:nvSpPr>
          <p:spPr>
            <a:xfrm>
              <a:off x="6619177" y="2709643"/>
              <a:ext cx="1554760" cy="360717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76" name="Google Shape;176;p19"/>
          <p:cNvSpPr/>
          <p:nvPr/>
        </p:nvSpPr>
        <p:spPr>
          <a:xfrm rot="5400000">
            <a:off x="-2468168" y="2468165"/>
            <a:ext cx="5143502" cy="207169"/>
          </a:xfrm>
          <a:prstGeom prst="rect">
            <a:avLst/>
          </a:prstGeom>
          <a:solidFill>
            <a:srgbClr val="C5DC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77" name="Google Shape;177;p19"/>
          <p:cNvCxnSpPr/>
          <p:nvPr/>
        </p:nvCxnSpPr>
        <p:spPr>
          <a:xfrm>
            <a:off x="457200" y="885825"/>
            <a:ext cx="8686800" cy="0"/>
          </a:xfrm>
          <a:prstGeom prst="straightConnector1">
            <a:avLst/>
          </a:prstGeom>
          <a:noFill/>
          <a:ln cap="flat" cmpd="sng" w="28575">
            <a:solidFill>
              <a:srgbClr val="4B91D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8" name="Google Shape;178;p19"/>
          <p:cNvSpPr txBox="1"/>
          <p:nvPr>
            <p:ph type="title"/>
          </p:nvPr>
        </p:nvSpPr>
        <p:spPr>
          <a:xfrm>
            <a:off x="457200" y="272700"/>
            <a:ext cx="80595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79" name="Google Shape;179;p19"/>
          <p:cNvCxnSpPr/>
          <p:nvPr/>
        </p:nvCxnSpPr>
        <p:spPr>
          <a:xfrm>
            <a:off x="5127959" y="4954500"/>
            <a:ext cx="3110200" cy="8314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0" name="Google Shape;180;p19"/>
          <p:cNvSpPr txBox="1"/>
          <p:nvPr/>
        </p:nvSpPr>
        <p:spPr>
          <a:xfrm>
            <a:off x="8256419" y="4816838"/>
            <a:ext cx="4110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500">
                <a:solidFill>
                  <a:srgbClr val="6F6F6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500">
              <a:solidFill>
                <a:srgbClr val="6F6F6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一般封面">
  <p:cSld name="一般封面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/>
          <p:nvPr/>
        </p:nvSpPr>
        <p:spPr>
          <a:xfrm>
            <a:off x="-6998" y="-1"/>
            <a:ext cx="3252831" cy="5143500"/>
          </a:xfrm>
          <a:prstGeom prst="rect">
            <a:avLst/>
          </a:prstGeom>
          <a:solidFill>
            <a:srgbClr val="9CC2E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3" name="Google Shape;183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09884" y="146119"/>
            <a:ext cx="1233060" cy="123306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>
            <p:ph type="ctrTitle"/>
          </p:nvPr>
        </p:nvSpPr>
        <p:spPr>
          <a:xfrm>
            <a:off x="177923" y="1525298"/>
            <a:ext cx="2896985" cy="1061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185" name="Google Shape;185;p20"/>
          <p:cNvCxnSpPr/>
          <p:nvPr/>
        </p:nvCxnSpPr>
        <p:spPr>
          <a:xfrm>
            <a:off x="123602" y="2587029"/>
            <a:ext cx="3005624" cy="0"/>
          </a:xfrm>
          <a:prstGeom prst="straightConnector1">
            <a:avLst/>
          </a:prstGeom>
          <a:noFill/>
          <a:ln cap="flat" cmpd="sng" w="28575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6" name="Google Shape;186;p20"/>
          <p:cNvCxnSpPr/>
          <p:nvPr/>
        </p:nvCxnSpPr>
        <p:spPr>
          <a:xfrm>
            <a:off x="3245833" y="4968244"/>
            <a:ext cx="4360949" cy="0"/>
          </a:xfrm>
          <a:prstGeom prst="straightConnector1">
            <a:avLst/>
          </a:prstGeom>
          <a:noFill/>
          <a:ln cap="flat" cmpd="sng" w="28575">
            <a:solidFill>
              <a:srgbClr val="1E4E79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87" name="Google Shape;1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06782" y="4791008"/>
            <a:ext cx="1079086" cy="402371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>
            <p:ph idx="1" type="subTitle"/>
          </p:nvPr>
        </p:nvSpPr>
        <p:spPr>
          <a:xfrm>
            <a:off x="3657945" y="1006161"/>
            <a:ext cx="5027923" cy="313117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  <a:defRPr sz="27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grpSp>
        <p:nvGrpSpPr>
          <p:cNvPr id="189" name="Google Shape;189;p20"/>
          <p:cNvGrpSpPr/>
          <p:nvPr/>
        </p:nvGrpSpPr>
        <p:grpSpPr>
          <a:xfrm rot="-228623">
            <a:off x="-173784" y="3588333"/>
            <a:ext cx="2069858" cy="1874554"/>
            <a:chOff x="-1349966" y="36601"/>
            <a:chExt cx="8161752" cy="7391646"/>
          </a:xfrm>
        </p:grpSpPr>
        <p:pic>
          <p:nvPicPr>
            <p:cNvPr descr="棋盤圖- 維基百科，自由的百科全書" id="190" name="Google Shape;190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-233470">
              <a:off x="403179" y="1019642"/>
              <a:ext cx="6205212" cy="6205210"/>
            </a:xfrm>
            <a:prstGeom prst="rect">
              <a:avLst/>
            </a:prstGeom>
            <a:noFill/>
            <a:ln cap="flat" cmpd="sng" w="349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317500" algn="ctr">
                <a:srgbClr val="000000">
                  <a:alpha val="42745"/>
                </a:srgbClr>
              </a:outerShdw>
            </a:effectLst>
          </p:spPr>
        </p:pic>
        <p:grpSp>
          <p:nvGrpSpPr>
            <p:cNvPr id="191" name="Google Shape;191;p20"/>
            <p:cNvGrpSpPr/>
            <p:nvPr/>
          </p:nvGrpSpPr>
          <p:grpSpPr>
            <a:xfrm flipH="1" rot="989811">
              <a:off x="-848914" y="653174"/>
              <a:ext cx="4958420" cy="4247800"/>
              <a:chOff x="3966256" y="542455"/>
              <a:chExt cx="3376325" cy="3237462"/>
            </a:xfrm>
          </p:grpSpPr>
          <p:pic>
            <p:nvPicPr>
              <p:cNvPr id="192" name="Google Shape;192;p20"/>
              <p:cNvPicPr preferRelativeResize="0"/>
              <p:nvPr/>
            </p:nvPicPr>
            <p:blipFill rotWithShape="1">
              <a:blip r:embed="rId5">
                <a:alphaModFix/>
              </a:blip>
              <a:srcRect b="0" l="0" r="0" t="0"/>
              <a:stretch/>
            </p:blipFill>
            <p:spPr>
              <a:xfrm rot="-1759918">
                <a:off x="4349239" y="1037799"/>
                <a:ext cx="2610359" cy="2246773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3" name="Google Shape;193;p20"/>
              <p:cNvSpPr/>
              <p:nvPr/>
            </p:nvSpPr>
            <p:spPr>
              <a:xfrm rot="-1458812">
                <a:off x="4821886" y="2777047"/>
                <a:ext cx="1018360" cy="595745"/>
              </a:xfrm>
              <a:prstGeom prst="ellipse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34275" lIns="68575" spcFirstLastPara="1" rIns="68575" wrap="square" tIns="342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0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194" name="Google Shape;194;p20"/>
          <p:cNvSpPr txBox="1"/>
          <p:nvPr>
            <p:ph idx="2" type="body"/>
          </p:nvPr>
        </p:nvSpPr>
        <p:spPr>
          <a:xfrm>
            <a:off x="177923" y="2850728"/>
            <a:ext cx="2896985" cy="27230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較">
  <p:cSld name="比較"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6" name="Google Shape;196;p21"/>
          <p:cNvCxnSpPr/>
          <p:nvPr/>
        </p:nvCxnSpPr>
        <p:spPr>
          <a:xfrm>
            <a:off x="0" y="4954854"/>
            <a:ext cx="4051160" cy="8138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7" name="Google Shape;197;p21"/>
          <p:cNvSpPr txBox="1"/>
          <p:nvPr>
            <p:ph idx="1" type="body"/>
          </p:nvPr>
        </p:nvSpPr>
        <p:spPr>
          <a:xfrm>
            <a:off x="457200" y="959953"/>
            <a:ext cx="4035905" cy="61793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198" name="Google Shape;198;p21"/>
          <p:cNvSpPr txBox="1"/>
          <p:nvPr>
            <p:ph idx="2" type="body"/>
          </p:nvPr>
        </p:nvSpPr>
        <p:spPr>
          <a:xfrm>
            <a:off x="4650896" y="959953"/>
            <a:ext cx="4016531" cy="61793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grpSp>
        <p:nvGrpSpPr>
          <p:cNvPr id="199" name="Google Shape;199;p21"/>
          <p:cNvGrpSpPr/>
          <p:nvPr/>
        </p:nvGrpSpPr>
        <p:grpSpPr>
          <a:xfrm>
            <a:off x="4156073" y="4875892"/>
            <a:ext cx="869261" cy="273842"/>
            <a:chOff x="1556910" y="1526777"/>
            <a:chExt cx="6957916" cy="2665279"/>
          </a:xfrm>
        </p:grpSpPr>
        <p:sp>
          <p:nvSpPr>
            <p:cNvPr id="200" name="Google Shape;200;p21"/>
            <p:cNvSpPr/>
            <p:nvPr/>
          </p:nvSpPr>
          <p:spPr>
            <a:xfrm>
              <a:off x="4284168" y="1566301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1" name="Google Shape;201;p21"/>
            <p:cNvSpPr/>
            <p:nvPr/>
          </p:nvSpPr>
          <p:spPr>
            <a:xfrm flipH="1">
              <a:off x="5249232" y="1526777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02" name="Google Shape;202;p21"/>
            <p:cNvCxnSpPr/>
            <p:nvPr/>
          </p:nvCxnSpPr>
          <p:spPr>
            <a:xfrm>
              <a:off x="3263317" y="1526796"/>
              <a:ext cx="947956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203" name="Google Shape;203;p21"/>
            <p:cNvSpPr/>
            <p:nvPr/>
          </p:nvSpPr>
          <p:spPr>
            <a:xfrm>
              <a:off x="1556910" y="1526795"/>
              <a:ext cx="1212204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4" name="Google Shape;204;p21"/>
            <p:cNvSpPr/>
            <p:nvPr/>
          </p:nvSpPr>
          <p:spPr>
            <a:xfrm flipH="1">
              <a:off x="2941089" y="1526795"/>
              <a:ext cx="763394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5" name="Google Shape;205;p21"/>
            <p:cNvSpPr/>
            <p:nvPr/>
          </p:nvSpPr>
          <p:spPr>
            <a:xfrm>
              <a:off x="2222301" y="1526786"/>
              <a:ext cx="1109437" cy="461384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6" name="Google Shape;206;p21"/>
            <p:cNvSpPr/>
            <p:nvPr/>
          </p:nvSpPr>
          <p:spPr>
            <a:xfrm flipH="1">
              <a:off x="7302617" y="1526786"/>
              <a:ext cx="1212209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7" name="Google Shape;207;p21"/>
            <p:cNvSpPr/>
            <p:nvPr/>
          </p:nvSpPr>
          <p:spPr>
            <a:xfrm>
              <a:off x="6377031" y="1526786"/>
              <a:ext cx="763397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8" name="Google Shape;208;p21"/>
            <p:cNvSpPr/>
            <p:nvPr/>
          </p:nvSpPr>
          <p:spPr>
            <a:xfrm flipH="1">
              <a:off x="6717486" y="1526777"/>
              <a:ext cx="1109442" cy="461388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09" name="Google Shape;209;p21"/>
            <p:cNvSpPr/>
            <p:nvPr/>
          </p:nvSpPr>
          <p:spPr>
            <a:xfrm>
              <a:off x="1922742" y="2709648"/>
              <a:ext cx="1603695" cy="360721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10" name="Google Shape;210;p21"/>
            <p:cNvSpPr/>
            <p:nvPr/>
          </p:nvSpPr>
          <p:spPr>
            <a:xfrm>
              <a:off x="6619177" y="2709643"/>
              <a:ext cx="1554760" cy="360717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11" name="Google Shape;211;p21"/>
          <p:cNvSpPr/>
          <p:nvPr/>
        </p:nvSpPr>
        <p:spPr>
          <a:xfrm rot="5400000">
            <a:off x="-2468168" y="2468165"/>
            <a:ext cx="5143502" cy="207169"/>
          </a:xfrm>
          <a:prstGeom prst="rect">
            <a:avLst/>
          </a:prstGeom>
          <a:solidFill>
            <a:srgbClr val="C5DC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12" name="Google Shape;212;p21"/>
          <p:cNvCxnSpPr/>
          <p:nvPr/>
        </p:nvCxnSpPr>
        <p:spPr>
          <a:xfrm>
            <a:off x="457200" y="885825"/>
            <a:ext cx="8686800" cy="0"/>
          </a:xfrm>
          <a:prstGeom prst="straightConnector1">
            <a:avLst/>
          </a:prstGeom>
          <a:noFill/>
          <a:ln cap="flat" cmpd="sng" w="28575">
            <a:solidFill>
              <a:srgbClr val="4B91D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3" name="Google Shape;213;p21"/>
          <p:cNvSpPr txBox="1"/>
          <p:nvPr>
            <p:ph idx="3" type="body"/>
          </p:nvPr>
        </p:nvSpPr>
        <p:spPr>
          <a:xfrm>
            <a:off x="457200" y="1652014"/>
            <a:ext cx="4035905" cy="284930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4" name="Google Shape;214;p21"/>
          <p:cNvSpPr txBox="1"/>
          <p:nvPr>
            <p:ph idx="4" type="body"/>
          </p:nvPr>
        </p:nvSpPr>
        <p:spPr>
          <a:xfrm>
            <a:off x="4650896" y="1652014"/>
            <a:ext cx="4016532" cy="284930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238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15" name="Google Shape;215;p21"/>
          <p:cNvSpPr txBox="1"/>
          <p:nvPr>
            <p:ph type="title"/>
          </p:nvPr>
        </p:nvSpPr>
        <p:spPr>
          <a:xfrm>
            <a:off x="456300" y="273844"/>
            <a:ext cx="80595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cxnSp>
        <p:nvCxnSpPr>
          <p:cNvPr id="216" name="Google Shape;216;p21"/>
          <p:cNvCxnSpPr/>
          <p:nvPr/>
        </p:nvCxnSpPr>
        <p:spPr>
          <a:xfrm>
            <a:off x="5127959" y="4954500"/>
            <a:ext cx="3110200" cy="8314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7" name="Google Shape;217;p21"/>
          <p:cNvSpPr txBox="1"/>
          <p:nvPr/>
        </p:nvSpPr>
        <p:spPr>
          <a:xfrm>
            <a:off x="8256419" y="4816838"/>
            <a:ext cx="4110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500">
                <a:solidFill>
                  <a:srgbClr val="6F6F6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500">
              <a:solidFill>
                <a:srgbClr val="6F6F6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含說明的圖片" type="picTx">
  <p:cSld name="PICTURE_WITH_CAPTION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9" name="Google Shape;219;p22"/>
          <p:cNvCxnSpPr/>
          <p:nvPr/>
        </p:nvCxnSpPr>
        <p:spPr>
          <a:xfrm>
            <a:off x="0" y="4954854"/>
            <a:ext cx="4051160" cy="8138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0" name="Google Shape;220;p22"/>
          <p:cNvCxnSpPr/>
          <p:nvPr/>
        </p:nvCxnSpPr>
        <p:spPr>
          <a:xfrm>
            <a:off x="-1" y="1318610"/>
            <a:ext cx="3579020" cy="0"/>
          </a:xfrm>
          <a:prstGeom prst="straightConnector1">
            <a:avLst/>
          </a:prstGeom>
          <a:noFill/>
          <a:ln cap="flat" cmpd="sng" w="28575">
            <a:solidFill>
              <a:srgbClr val="4B91D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1" name="Google Shape;221;p22"/>
          <p:cNvSpPr txBox="1"/>
          <p:nvPr>
            <p:ph type="title"/>
          </p:nvPr>
        </p:nvSpPr>
        <p:spPr>
          <a:xfrm>
            <a:off x="629841" y="562038"/>
            <a:ext cx="2949178" cy="75437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  <a:defRPr sz="33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2" name="Google Shape;222;p22"/>
          <p:cNvSpPr/>
          <p:nvPr>
            <p:ph idx="2" type="pic"/>
          </p:nvPr>
        </p:nvSpPr>
        <p:spPr>
          <a:xfrm>
            <a:off x="3871651" y="562039"/>
            <a:ext cx="4775814" cy="383375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22"/>
          <p:cNvSpPr txBox="1"/>
          <p:nvPr>
            <p:ph idx="1" type="body"/>
          </p:nvPr>
        </p:nvSpPr>
        <p:spPr>
          <a:xfrm>
            <a:off x="679565" y="1543050"/>
            <a:ext cx="2899454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grpSp>
        <p:nvGrpSpPr>
          <p:cNvPr id="224" name="Google Shape;224;p22"/>
          <p:cNvGrpSpPr/>
          <p:nvPr/>
        </p:nvGrpSpPr>
        <p:grpSpPr>
          <a:xfrm>
            <a:off x="4156073" y="4875892"/>
            <a:ext cx="869261" cy="273842"/>
            <a:chOff x="1556910" y="1526777"/>
            <a:chExt cx="6957916" cy="2665279"/>
          </a:xfrm>
        </p:grpSpPr>
        <p:sp>
          <p:nvSpPr>
            <p:cNvPr id="225" name="Google Shape;225;p22"/>
            <p:cNvSpPr/>
            <p:nvPr/>
          </p:nvSpPr>
          <p:spPr>
            <a:xfrm>
              <a:off x="4284168" y="1566301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6" name="Google Shape;226;p22"/>
            <p:cNvSpPr/>
            <p:nvPr/>
          </p:nvSpPr>
          <p:spPr>
            <a:xfrm flipH="1">
              <a:off x="5249232" y="1526777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27" name="Google Shape;227;p22"/>
            <p:cNvCxnSpPr/>
            <p:nvPr/>
          </p:nvCxnSpPr>
          <p:spPr>
            <a:xfrm>
              <a:off x="3263317" y="1526796"/>
              <a:ext cx="947956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228" name="Google Shape;228;p22"/>
            <p:cNvSpPr/>
            <p:nvPr/>
          </p:nvSpPr>
          <p:spPr>
            <a:xfrm>
              <a:off x="1556910" y="1526795"/>
              <a:ext cx="1212204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29" name="Google Shape;229;p22"/>
            <p:cNvSpPr/>
            <p:nvPr/>
          </p:nvSpPr>
          <p:spPr>
            <a:xfrm flipH="1">
              <a:off x="2941089" y="1526795"/>
              <a:ext cx="763394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0" name="Google Shape;230;p22"/>
            <p:cNvSpPr/>
            <p:nvPr/>
          </p:nvSpPr>
          <p:spPr>
            <a:xfrm>
              <a:off x="2222301" y="1526786"/>
              <a:ext cx="1109437" cy="461384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1" name="Google Shape;231;p22"/>
            <p:cNvSpPr/>
            <p:nvPr/>
          </p:nvSpPr>
          <p:spPr>
            <a:xfrm flipH="1">
              <a:off x="7302617" y="1526786"/>
              <a:ext cx="1212209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2" name="Google Shape;232;p22"/>
            <p:cNvSpPr/>
            <p:nvPr/>
          </p:nvSpPr>
          <p:spPr>
            <a:xfrm>
              <a:off x="6377031" y="1526786"/>
              <a:ext cx="763397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3" name="Google Shape;233;p22"/>
            <p:cNvSpPr/>
            <p:nvPr/>
          </p:nvSpPr>
          <p:spPr>
            <a:xfrm flipH="1">
              <a:off x="6717486" y="1526777"/>
              <a:ext cx="1109442" cy="461388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4" name="Google Shape;234;p22"/>
            <p:cNvSpPr/>
            <p:nvPr/>
          </p:nvSpPr>
          <p:spPr>
            <a:xfrm>
              <a:off x="1922742" y="2709648"/>
              <a:ext cx="1603695" cy="360721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35" name="Google Shape;235;p22"/>
            <p:cNvSpPr/>
            <p:nvPr/>
          </p:nvSpPr>
          <p:spPr>
            <a:xfrm>
              <a:off x="6619177" y="2709643"/>
              <a:ext cx="1554760" cy="360717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36" name="Google Shape;236;p22"/>
          <p:cNvSpPr/>
          <p:nvPr/>
        </p:nvSpPr>
        <p:spPr>
          <a:xfrm rot="5400000">
            <a:off x="-2468168" y="2468165"/>
            <a:ext cx="5143502" cy="207169"/>
          </a:xfrm>
          <a:prstGeom prst="rect">
            <a:avLst/>
          </a:prstGeom>
          <a:solidFill>
            <a:srgbClr val="C5DC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7" name="Google Shape;237;p22"/>
          <p:cNvCxnSpPr/>
          <p:nvPr/>
        </p:nvCxnSpPr>
        <p:spPr>
          <a:xfrm>
            <a:off x="5127959" y="4954500"/>
            <a:ext cx="3110200" cy="8314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38" name="Google Shape;238;p22"/>
          <p:cNvSpPr txBox="1"/>
          <p:nvPr/>
        </p:nvSpPr>
        <p:spPr>
          <a:xfrm>
            <a:off x="8256419" y="4816838"/>
            <a:ext cx="4110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500">
                <a:solidFill>
                  <a:srgbClr val="6F6F6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500">
              <a:solidFill>
                <a:srgbClr val="6F6F6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0" name="Google Shape;240;p23"/>
          <p:cNvCxnSpPr/>
          <p:nvPr/>
        </p:nvCxnSpPr>
        <p:spPr>
          <a:xfrm>
            <a:off x="0" y="4954854"/>
            <a:ext cx="4051160" cy="8138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41" name="Google Shape;241;p23"/>
          <p:cNvGrpSpPr/>
          <p:nvPr/>
        </p:nvGrpSpPr>
        <p:grpSpPr>
          <a:xfrm>
            <a:off x="4156073" y="4875892"/>
            <a:ext cx="869261" cy="273842"/>
            <a:chOff x="1556910" y="1526777"/>
            <a:chExt cx="6957916" cy="2665279"/>
          </a:xfrm>
        </p:grpSpPr>
        <p:sp>
          <p:nvSpPr>
            <p:cNvPr id="242" name="Google Shape;242;p23"/>
            <p:cNvSpPr/>
            <p:nvPr/>
          </p:nvSpPr>
          <p:spPr>
            <a:xfrm>
              <a:off x="4284168" y="1566301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3" name="Google Shape;243;p23"/>
            <p:cNvSpPr/>
            <p:nvPr/>
          </p:nvSpPr>
          <p:spPr>
            <a:xfrm flipH="1">
              <a:off x="5249232" y="1526777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244" name="Google Shape;244;p23"/>
            <p:cNvCxnSpPr/>
            <p:nvPr/>
          </p:nvCxnSpPr>
          <p:spPr>
            <a:xfrm>
              <a:off x="3263317" y="1526796"/>
              <a:ext cx="947956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245" name="Google Shape;245;p23"/>
            <p:cNvSpPr/>
            <p:nvPr/>
          </p:nvSpPr>
          <p:spPr>
            <a:xfrm>
              <a:off x="1556910" y="1526795"/>
              <a:ext cx="1212204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6" name="Google Shape;246;p23"/>
            <p:cNvSpPr/>
            <p:nvPr/>
          </p:nvSpPr>
          <p:spPr>
            <a:xfrm flipH="1">
              <a:off x="2941089" y="1526795"/>
              <a:ext cx="763394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7" name="Google Shape;247;p23"/>
            <p:cNvSpPr/>
            <p:nvPr/>
          </p:nvSpPr>
          <p:spPr>
            <a:xfrm>
              <a:off x="2222301" y="1526786"/>
              <a:ext cx="1109437" cy="461384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8" name="Google Shape;248;p23"/>
            <p:cNvSpPr/>
            <p:nvPr/>
          </p:nvSpPr>
          <p:spPr>
            <a:xfrm flipH="1">
              <a:off x="7302617" y="1526786"/>
              <a:ext cx="1212209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49" name="Google Shape;249;p23"/>
            <p:cNvSpPr/>
            <p:nvPr/>
          </p:nvSpPr>
          <p:spPr>
            <a:xfrm>
              <a:off x="6377031" y="1526786"/>
              <a:ext cx="763397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0" name="Google Shape;250;p23"/>
            <p:cNvSpPr/>
            <p:nvPr/>
          </p:nvSpPr>
          <p:spPr>
            <a:xfrm flipH="1">
              <a:off x="6717486" y="1526777"/>
              <a:ext cx="1109442" cy="461388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1" name="Google Shape;251;p23"/>
            <p:cNvSpPr/>
            <p:nvPr/>
          </p:nvSpPr>
          <p:spPr>
            <a:xfrm>
              <a:off x="1922742" y="2709648"/>
              <a:ext cx="1603695" cy="360721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252" name="Google Shape;252;p23"/>
            <p:cNvSpPr/>
            <p:nvPr/>
          </p:nvSpPr>
          <p:spPr>
            <a:xfrm>
              <a:off x="6619177" y="2709643"/>
              <a:ext cx="1554760" cy="360717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253" name="Google Shape;253;p23"/>
          <p:cNvSpPr/>
          <p:nvPr/>
        </p:nvSpPr>
        <p:spPr>
          <a:xfrm rot="5400000">
            <a:off x="-2468168" y="2468165"/>
            <a:ext cx="5143502" cy="207169"/>
          </a:xfrm>
          <a:prstGeom prst="rect">
            <a:avLst/>
          </a:prstGeom>
          <a:solidFill>
            <a:srgbClr val="C5DCF1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4" name="Google Shape;254;p23"/>
          <p:cNvSpPr txBox="1"/>
          <p:nvPr/>
        </p:nvSpPr>
        <p:spPr>
          <a:xfrm>
            <a:off x="8256419" y="4816838"/>
            <a:ext cx="411009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 sz="1500">
                <a:solidFill>
                  <a:srgbClr val="6F6F6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500">
              <a:solidFill>
                <a:srgbClr val="6F6F6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55" name="Google Shape;255;p23"/>
          <p:cNvCxnSpPr/>
          <p:nvPr/>
        </p:nvCxnSpPr>
        <p:spPr>
          <a:xfrm>
            <a:off x="5127959" y="4954500"/>
            <a:ext cx="3110200" cy="8314"/>
          </a:xfrm>
          <a:prstGeom prst="straightConnector1">
            <a:avLst/>
          </a:prstGeom>
          <a:noFill/>
          <a:ln cap="flat" cmpd="sng" w="28575">
            <a:solidFill>
              <a:srgbClr val="1F3864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  <a:defRPr b="0" i="0" sz="3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sp>
        <p:nvSpPr>
          <p:cNvPr id="54" name="Google Shape;54;p13"/>
          <p:cNvSpPr/>
          <p:nvPr/>
        </p:nvSpPr>
        <p:spPr>
          <a:xfrm>
            <a:off x="0" y="1"/>
            <a:ext cx="9144000" cy="243000"/>
          </a:xfrm>
          <a:prstGeom prst="rect">
            <a:avLst/>
          </a:prstGeom>
          <a:solidFill>
            <a:srgbClr val="EAF2F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5" name="Google Shape;55;p13"/>
          <p:cNvGrpSpPr/>
          <p:nvPr/>
        </p:nvGrpSpPr>
        <p:grpSpPr>
          <a:xfrm>
            <a:off x="8415338" y="50346"/>
            <a:ext cx="659437" cy="192655"/>
            <a:chOff x="1556910" y="1526777"/>
            <a:chExt cx="6957916" cy="2665279"/>
          </a:xfrm>
        </p:grpSpPr>
        <p:sp>
          <p:nvSpPr>
            <p:cNvPr id="56" name="Google Shape;56;p13"/>
            <p:cNvSpPr/>
            <p:nvPr/>
          </p:nvSpPr>
          <p:spPr>
            <a:xfrm>
              <a:off x="4284168" y="1566301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" name="Google Shape;57;p13"/>
            <p:cNvSpPr/>
            <p:nvPr/>
          </p:nvSpPr>
          <p:spPr>
            <a:xfrm flipH="1">
              <a:off x="5249232" y="1526777"/>
              <a:ext cx="536893" cy="2625755"/>
            </a:xfrm>
            <a:prstGeom prst="parallelogram">
              <a:avLst>
                <a:gd fmla="val 3125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8" name="Google Shape;58;p13"/>
            <p:cNvCxnSpPr/>
            <p:nvPr/>
          </p:nvCxnSpPr>
          <p:spPr>
            <a:xfrm>
              <a:off x="3263317" y="1526796"/>
              <a:ext cx="947956" cy="0"/>
            </a:xfrm>
            <a:prstGeom prst="straightConnector1">
              <a:avLst/>
            </a:prstGeom>
            <a:noFill/>
            <a:ln>
              <a:noFill/>
            </a:ln>
          </p:spPr>
        </p:cxnSp>
        <p:sp>
          <p:nvSpPr>
            <p:cNvPr id="59" name="Google Shape;59;p13"/>
            <p:cNvSpPr/>
            <p:nvPr/>
          </p:nvSpPr>
          <p:spPr>
            <a:xfrm>
              <a:off x="1556910" y="1526795"/>
              <a:ext cx="1212204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0" name="Google Shape;60;p13"/>
            <p:cNvSpPr/>
            <p:nvPr/>
          </p:nvSpPr>
          <p:spPr>
            <a:xfrm flipH="1">
              <a:off x="2941089" y="1526795"/>
              <a:ext cx="763394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1" name="Google Shape;61;p13"/>
            <p:cNvSpPr/>
            <p:nvPr/>
          </p:nvSpPr>
          <p:spPr>
            <a:xfrm>
              <a:off x="2222301" y="1526786"/>
              <a:ext cx="1109437" cy="461384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2" name="Google Shape;62;p13"/>
            <p:cNvSpPr/>
            <p:nvPr/>
          </p:nvSpPr>
          <p:spPr>
            <a:xfrm flipH="1">
              <a:off x="7302617" y="1526786"/>
              <a:ext cx="1212209" cy="2625746"/>
            </a:xfrm>
            <a:prstGeom prst="parallelogram">
              <a:avLst>
                <a:gd fmla="val 66480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" name="Google Shape;63;p13"/>
            <p:cNvSpPr/>
            <p:nvPr/>
          </p:nvSpPr>
          <p:spPr>
            <a:xfrm>
              <a:off x="6377031" y="1526786"/>
              <a:ext cx="763397" cy="2625746"/>
            </a:xfrm>
            <a:prstGeom prst="parallelogram">
              <a:avLst>
                <a:gd fmla="val 47702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4" name="Google Shape;64;p13"/>
            <p:cNvSpPr/>
            <p:nvPr/>
          </p:nvSpPr>
          <p:spPr>
            <a:xfrm flipH="1">
              <a:off x="6717486" y="1526777"/>
              <a:ext cx="1109442" cy="461388"/>
            </a:xfrm>
            <a:prstGeom prst="trapezoid">
              <a:avLst>
                <a:gd fmla="val 30455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5" name="Google Shape;65;p13"/>
            <p:cNvSpPr/>
            <p:nvPr/>
          </p:nvSpPr>
          <p:spPr>
            <a:xfrm>
              <a:off x="1922742" y="2709648"/>
              <a:ext cx="1603695" cy="360721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6" name="Google Shape;66;p13"/>
            <p:cNvSpPr/>
            <p:nvPr/>
          </p:nvSpPr>
          <p:spPr>
            <a:xfrm>
              <a:off x="6619177" y="2709643"/>
              <a:ext cx="1554760" cy="360717"/>
            </a:xfrm>
            <a:prstGeom prst="trapezoid">
              <a:avLst>
                <a:gd fmla="val 30454" name="adj"/>
              </a:avLst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pic>
        <p:nvPicPr>
          <p:cNvPr id="67" name="Google Shape;67;p13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8755963" y="4788694"/>
            <a:ext cx="304587" cy="302208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4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7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18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5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6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image" Target="../media/image27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1" name="Google Shape;261;p24"/>
          <p:cNvSpPr txBox="1"/>
          <p:nvPr>
            <p:ph type="ctrTitle"/>
          </p:nvPr>
        </p:nvSpPr>
        <p:spPr>
          <a:xfrm>
            <a:off x="128044" y="1510383"/>
            <a:ext cx="2896985" cy="1061367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t>論文導讀</a:t>
            </a:r>
            <a:endParaRPr/>
          </a:p>
        </p:txBody>
      </p:sp>
      <p:sp>
        <p:nvSpPr>
          <p:cNvPr id="262" name="Google Shape;262;p24"/>
          <p:cNvSpPr txBox="1"/>
          <p:nvPr>
            <p:ph idx="1" type="subTitle"/>
          </p:nvPr>
        </p:nvSpPr>
        <p:spPr>
          <a:xfrm>
            <a:off x="3629389" y="863252"/>
            <a:ext cx="5028000" cy="359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ctr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sz="2100"/>
              <a:t>Attention Is All You Need</a:t>
            </a:r>
            <a:endParaRPr sz="2100"/>
          </a:p>
        </p:txBody>
      </p:sp>
      <p:sp>
        <p:nvSpPr>
          <p:cNvPr id="263" name="Google Shape;263;p24"/>
          <p:cNvSpPr txBox="1"/>
          <p:nvPr>
            <p:ph idx="2" type="body"/>
          </p:nvPr>
        </p:nvSpPr>
        <p:spPr>
          <a:xfrm>
            <a:off x="1128026" y="2850725"/>
            <a:ext cx="19695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zh-TW"/>
              <a:t>113321060 陳宣予</a:t>
            </a:r>
            <a:endParaRPr/>
          </a:p>
        </p:txBody>
      </p:sp>
      <p:sp>
        <p:nvSpPr>
          <p:cNvPr id="264" name="Google Shape;264;p24"/>
          <p:cNvSpPr/>
          <p:nvPr/>
        </p:nvSpPr>
        <p:spPr>
          <a:xfrm>
            <a:off x="1955800" y="3268133"/>
            <a:ext cx="194734" cy="203200"/>
          </a:xfrm>
          <a:prstGeom prst="rect">
            <a:avLst/>
          </a:prstGeom>
          <a:solidFill>
            <a:srgbClr val="9CC2E5"/>
          </a:solidFill>
          <a:ln cap="flat" cmpd="sng" w="12700">
            <a:solidFill>
              <a:srgbClr val="9CC2E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69" name="Google Shape;269;p25"/>
          <p:cNvSpPr txBox="1"/>
          <p:nvPr>
            <p:ph idx="1" type="body"/>
          </p:nvPr>
        </p:nvSpPr>
        <p:spPr>
          <a:xfrm>
            <a:off x="914925" y="1089100"/>
            <a:ext cx="8031900" cy="36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>1. 論文背景與問題</a:t>
            </a:r>
            <a:endParaRPr sz="2400"/>
          </a:p>
          <a:p>
            <a:pPr/>
            <a:r>
              <a:t>2. 核心：Attention 機制</a:t>
            </a:r>
          </a:p>
          <a:p>
            <a:pPr/>
            <a:r>
              <a:t>3. 模型架構</a:t>
            </a:r>
          </a:p>
          <a:p>
            <a:pPr/>
            <a:r>
              <a:t>4. 為什麼 Self-Attention 更好</a:t>
            </a:r>
          </a:p>
          <a:p>
            <a:pPr/>
            <a:r>
              <a:t>5. 實驗與結果</a:t>
            </a:r>
          </a:p>
          <a:p>
            <a:pPr/>
            <a:r>
              <a:t>6. 影響與總結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2" name="Google Shape;292;p29"/>
          <p:cNvSpPr txBox="1"/>
          <p:nvPr>
            <p:ph type="title"/>
          </p:nvPr>
        </p:nvSpPr>
        <p:spPr>
          <a:xfrm>
            <a:off x="457200" y="273844"/>
            <a:ext cx="805815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sz="2800"/>
              <a:t>論文基本資料</a:t>
            </a:r>
            <a:endParaRPr sz="2800"/>
          </a:p>
        </p:txBody>
      </p:sp>
      <p:sp>
        <p:nvSpPr>
          <p:cNvPr id="293" name="Google Shape;293;p29"/>
          <p:cNvSpPr txBox="1"/>
          <p:nvPr>
            <p:ph idx="1" type="body"/>
          </p:nvPr>
        </p:nvSpPr>
        <p:spPr>
          <a:xfrm>
            <a:off x="457200" y="1194800"/>
            <a:ext cx="79491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1500"/>
              <a:t>標題：Attention Is All You Need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1500"/>
              <a:t>作者：Vaswani, Shazeer, Parmar, Uszkoreit, Jones, Gomez, Kaiser, Polosukhin</a:t>
            </a:r>
          </a:p>
          <a:p>
            <a:pPr/>
            <a:r>
              <a:rPr sz="1500"/>
              <a:t>單位：Google Brain / Google Research / 多倫多大學</a:t>
            </a:r>
          </a:p>
          <a:p>
            <a:pPr/>
            <a:r>
              <a:rPr sz="1500"/>
              <a:t>發表：NeurIPS 2017（當時名稱為 NIPS）</a:t>
            </a:r>
          </a:p>
          <a:p>
            <a:pPr/>
            <a:r>
              <a:rPr sz="1500"/>
              <a:t>任務：機器翻譯（WMT 2014 英德、英法）</a:t>
            </a:r>
          </a:p>
          <a:p>
            <a:pPr/>
            <a:r>
              <a:rPr sz="1500"/>
              <a:t>貢獻：提出 Transformer，完全捨棄 RNN 與 CNN，只用注意力機制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5" name="Google Shape;275;p26"/>
          <p:cNvSpPr txBox="1"/>
          <p:nvPr>
            <p:ph type="title"/>
          </p:nvPr>
        </p:nvSpPr>
        <p:spPr>
          <a:xfrm>
            <a:off x="663157" y="1310282"/>
            <a:ext cx="7809600" cy="17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t>1. 論文背景與問題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2" name="Google Shape;292;p29"/>
          <p:cNvSpPr txBox="1"/>
          <p:nvPr>
            <p:ph type="title"/>
          </p:nvPr>
        </p:nvSpPr>
        <p:spPr>
          <a:xfrm>
            <a:off x="457200" y="273844"/>
            <a:ext cx="805815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sz="2800"/>
              <a:t>在 Transformer 之前：RNN 時代</a:t>
            </a:r>
            <a:endParaRPr sz="2800"/>
          </a:p>
        </p:txBody>
      </p:sp>
      <p:sp>
        <p:nvSpPr>
          <p:cNvPr id="293" name="Google Shape;293;p29"/>
          <p:cNvSpPr txBox="1"/>
          <p:nvPr>
            <p:ph idx="1" type="body"/>
          </p:nvPr>
        </p:nvSpPr>
        <p:spPr>
          <a:xfrm>
            <a:off x="457200" y="1194800"/>
            <a:ext cx="79491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1500"/>
              <a:t>2017 年前，序列處理的主流是 RNN / LSTM / GRU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1500"/>
              <a:t>運作方式：逐字依序處理，第 t 步的計算依賴第 t-1 步的結果</a:t>
            </a:r>
          </a:p>
          <a:p>
            <a:pPr/>
            <a:r>
              <a:rPr sz="1500"/>
              <a:t>問題一：無法平行運算 —— 序列運算次數為 O(n)，訓練速度受限</a:t>
            </a:r>
          </a:p>
          <a:p>
            <a:pPr/>
            <a:r>
              <a:rPr sz="1500"/>
              <a:t>問題二：長距離依賴 —— 句子越長，早期資訊在傳遞中越容易衰減</a:t>
            </a:r>
          </a:p>
          <a:p>
            <a:pPr/>
            <a:r>
              <a:rPr sz="1500"/>
              <a:t>當時的改良方向（ByteNet、ConvS2S）改用卷積，但兩個位置間的</a:t>
            </a:r>
          </a:p>
          <a:p>
            <a:pPr/>
            <a:r>
              <a:rPr sz="1500"/>
              <a:t>　運算次數仍隨距離增加，長距離關聯依然難以學習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2" name="Google Shape;292;p29"/>
          <p:cNvSpPr txBox="1"/>
          <p:nvPr>
            <p:ph type="title"/>
          </p:nvPr>
        </p:nvSpPr>
        <p:spPr>
          <a:xfrm>
            <a:off x="457200" y="273844"/>
            <a:ext cx="805815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sz="2800"/>
              <a:t>核心差異：依序處理 vs 同時處理</a:t>
            </a:r>
            <a:endParaRPr sz="2800"/>
          </a:p>
        </p:txBody>
      </p:sp>
      <p:pic>
        <p:nvPicPr>
          <p:cNvPr id="293" name="Picture 292" descr="fig1_rnn_vs_transfor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325880"/>
            <a:ext cx="8138160" cy="3183868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5" name="Google Shape;275;p26"/>
          <p:cNvSpPr txBox="1"/>
          <p:nvPr>
            <p:ph type="title"/>
          </p:nvPr>
        </p:nvSpPr>
        <p:spPr>
          <a:xfrm>
            <a:off x="663157" y="1310282"/>
            <a:ext cx="7809600" cy="17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t>2. 核心：Attention 機制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2" name="Google Shape;292;p29"/>
          <p:cNvSpPr txBox="1"/>
          <p:nvPr>
            <p:ph type="title"/>
          </p:nvPr>
        </p:nvSpPr>
        <p:spPr>
          <a:xfrm>
            <a:off x="457200" y="273844"/>
            <a:ext cx="805815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sz="2800"/>
              <a:t>Query、Key、Value</a:t>
            </a:r>
            <a:endParaRPr sz="2800"/>
          </a:p>
        </p:txBody>
      </p:sp>
      <p:pic>
        <p:nvPicPr>
          <p:cNvPr id="293" name="Picture 292" descr="fig2_qk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023" y="1325880"/>
            <a:ext cx="723995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2" name="Google Shape;292;p29"/>
          <p:cNvSpPr txBox="1"/>
          <p:nvPr>
            <p:ph type="title"/>
          </p:nvPr>
        </p:nvSpPr>
        <p:spPr>
          <a:xfrm>
            <a:off x="457200" y="273844"/>
            <a:ext cx="805815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sz="2800"/>
              <a:t>Scaled Dot-Product Attention</a:t>
            </a:r>
            <a:endParaRPr sz="2800"/>
          </a:p>
        </p:txBody>
      </p:sp>
      <p:pic>
        <p:nvPicPr>
          <p:cNvPr id="293" name="Picture 292" descr="fig3_scaled_dot_produ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575" y="1325880"/>
            <a:ext cx="6468848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2" name="Google Shape;292;p29"/>
          <p:cNvSpPr txBox="1"/>
          <p:nvPr>
            <p:ph type="title"/>
          </p:nvPr>
        </p:nvSpPr>
        <p:spPr>
          <a:xfrm>
            <a:off x="457200" y="273844"/>
            <a:ext cx="805815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sz="2800"/>
              <a:t>為什麼要除以 √d_k</a:t>
            </a:r>
            <a:endParaRPr sz="2800"/>
          </a:p>
        </p:txBody>
      </p:sp>
      <p:sp>
        <p:nvSpPr>
          <p:cNvPr id="293" name="Google Shape;293;p29"/>
          <p:cNvSpPr txBox="1"/>
          <p:nvPr>
            <p:ph idx="1" type="body"/>
          </p:nvPr>
        </p:nvSpPr>
        <p:spPr>
          <a:xfrm>
            <a:off x="457200" y="1194800"/>
            <a:ext cx="79491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1400"/>
              <a:t>當維度 d_k 很大時，Q 與 K 的內積結果數值會跟著變大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1400"/>
              <a:t>數值過大 → softmax 落入飽和區 → 梯度趨近於 0 → 難以訓練</a:t>
            </a:r>
          </a:p>
          <a:p>
            <a:pPr/>
            <a:r>
              <a:rPr sz="1400"/>
              <a:t>除以 √d_k 可將數值變異數拉回穩定範圍，讓梯度正常回傳</a:t>
            </a:r>
          </a:p>
          <a:p>
            <a:pPr/>
            <a:r>
              <a:rPr sz="1400"/>
              <a:t/>
            </a:r>
          </a:p>
          <a:p>
            <a:pPr/>
            <a:r>
              <a:rPr sz="1400"/>
              <a:t>補充：論文比較了兩種注意力計算方式</a:t>
            </a:r>
          </a:p>
          <a:p>
            <a:pPr/>
            <a:r>
              <a:rPr sz="1400"/>
              <a:t>　Additive attention（用小型神經網路算分數）</a:t>
            </a:r>
          </a:p>
          <a:p>
            <a:pPr/>
            <a:r>
              <a:rPr sz="1400"/>
              <a:t>　Dot-product attention（直接內積）→ 本論文採用</a:t>
            </a:r>
          </a:p>
          <a:p>
            <a:pPr/>
            <a:r>
              <a:rPr sz="1400"/>
              <a:t>　兩者理論複雜度相近，但內積可用高度優化的矩陣乘法，實務上更快、更省記憶體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2" name="Google Shape;292;p29"/>
          <p:cNvSpPr txBox="1"/>
          <p:nvPr>
            <p:ph type="title"/>
          </p:nvPr>
        </p:nvSpPr>
        <p:spPr>
          <a:xfrm>
            <a:off x="457200" y="273844"/>
            <a:ext cx="805815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sz="2800"/>
              <a:t>Multi-Head Attention</a:t>
            </a:r>
            <a:endParaRPr sz="2800"/>
          </a:p>
        </p:txBody>
      </p:sp>
      <p:pic>
        <p:nvPicPr>
          <p:cNvPr id="293" name="Picture 292" descr="fig4_multihea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904" y="1325880"/>
            <a:ext cx="7532191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2" name="Google Shape;292;p29"/>
          <p:cNvSpPr txBox="1"/>
          <p:nvPr>
            <p:ph type="title"/>
          </p:nvPr>
        </p:nvSpPr>
        <p:spPr>
          <a:xfrm>
            <a:off x="457200" y="273844"/>
            <a:ext cx="805815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sz="2800"/>
              <a:t>為什麼要用多個 head</a:t>
            </a:r>
            <a:endParaRPr sz="2800"/>
          </a:p>
        </p:txBody>
      </p:sp>
      <p:sp>
        <p:nvSpPr>
          <p:cNvPr id="293" name="Google Shape;293;p29"/>
          <p:cNvSpPr txBox="1"/>
          <p:nvPr>
            <p:ph idx="1" type="body"/>
          </p:nvPr>
        </p:nvSpPr>
        <p:spPr>
          <a:xfrm>
            <a:off x="457200" y="1194800"/>
            <a:ext cx="79491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1500"/>
              <a:t>單一 attention 做加權平均時，多種不同的關聯會被平均掉、互相抵銷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1500"/>
              <a:t>多頭做法：把 512 維投影成 8 組各 64 維，各自獨立計算注意力</a:t>
            </a:r>
          </a:p>
          <a:p>
            <a:pPr/>
            <a:r>
              <a:rPr sz="1500"/>
              <a:t>每個 head 可以專注在不同性質的關聯（語法、指代、語意…）</a:t>
            </a:r>
          </a:p>
          <a:p>
            <a:pPr/>
            <a:r>
              <a:rPr sz="1500"/>
              <a:t>最後接起來（Concat）再經過一次線性轉換 W_O 融合</a:t>
            </a:r>
          </a:p>
          <a:p>
            <a:pPr/>
            <a:r>
              <a:rPr sz="1500"/>
              <a:t/>
            </a:r>
          </a:p>
          <a:p>
            <a:pPr/>
            <a:r>
              <a:rPr sz="1500"/>
              <a:t>重點：因為每個 head 維度降為 64，總計算量與單頭 512 維相當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5" name="Google Shape;275;p26"/>
          <p:cNvSpPr txBox="1"/>
          <p:nvPr>
            <p:ph type="title"/>
          </p:nvPr>
        </p:nvSpPr>
        <p:spPr>
          <a:xfrm>
            <a:off x="663157" y="1310282"/>
            <a:ext cx="7809600" cy="17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t>3. 模型架構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2" name="Google Shape;292;p29"/>
          <p:cNvSpPr txBox="1"/>
          <p:nvPr>
            <p:ph type="title"/>
          </p:nvPr>
        </p:nvSpPr>
        <p:spPr>
          <a:xfrm>
            <a:off x="457200" y="273844"/>
            <a:ext cx="805815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sz="2800"/>
              <a:t>整體架構：Encoder–Decoder</a:t>
            </a:r>
            <a:endParaRPr sz="2800"/>
          </a:p>
        </p:txBody>
      </p:sp>
      <p:pic>
        <p:nvPicPr>
          <p:cNvPr id="293" name="Picture 292" descr="fig5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1466" y="1325880"/>
            <a:ext cx="5161066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2" name="Google Shape;292;p29"/>
          <p:cNvSpPr txBox="1"/>
          <p:nvPr>
            <p:ph type="title"/>
          </p:nvPr>
        </p:nvSpPr>
        <p:spPr>
          <a:xfrm>
            <a:off x="457200" y="273844"/>
            <a:ext cx="805815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sz="2800"/>
              <a:t>Encoder 結構</a:t>
            </a:r>
            <a:endParaRPr sz="2800"/>
          </a:p>
        </p:txBody>
      </p:sp>
      <p:sp>
        <p:nvSpPr>
          <p:cNvPr id="293" name="Google Shape;293;p29"/>
          <p:cNvSpPr txBox="1"/>
          <p:nvPr>
            <p:ph idx="1" type="body"/>
          </p:nvPr>
        </p:nvSpPr>
        <p:spPr>
          <a:xfrm>
            <a:off x="457200" y="1194800"/>
            <a:ext cx="79491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1500"/>
              <a:t>由 N = 6 個相同的層堆疊而成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1500"/>
              <a:t>每層包含兩個子層：</a:t>
            </a:r>
          </a:p>
          <a:p>
            <a:pPr/>
            <a:r>
              <a:rPr sz="1500"/>
              <a:t>　1. Multi-Head Self-Attention</a:t>
            </a:r>
          </a:p>
          <a:p>
            <a:pPr/>
            <a:r>
              <a:rPr sz="1500"/>
              <a:t>　2. Position-wise Feed-Forward Network</a:t>
            </a:r>
          </a:p>
          <a:p>
            <a:pPr/>
            <a:r>
              <a:rPr sz="1500"/>
              <a:t>每個子層外都包一層殘差連接（Residual）與層正規化（Layer Norm）</a:t>
            </a:r>
          </a:p>
          <a:p>
            <a:pPr/>
            <a:r>
              <a:rPr sz="1500"/>
              <a:t>　即：LayerNorm( x + Sublayer(x) )</a:t>
            </a:r>
          </a:p>
          <a:p>
            <a:pPr/>
            <a:r>
              <a:rPr sz="1500"/>
              <a:t>所有子層輸出維度統一為 d_model = 512，方便殘差相加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2" name="Google Shape;292;p29"/>
          <p:cNvSpPr txBox="1"/>
          <p:nvPr>
            <p:ph type="title"/>
          </p:nvPr>
        </p:nvSpPr>
        <p:spPr>
          <a:xfrm>
            <a:off x="457200" y="273844"/>
            <a:ext cx="805815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sz="2800"/>
              <a:t>Decoder 結構</a:t>
            </a:r>
            <a:endParaRPr sz="2800"/>
          </a:p>
        </p:txBody>
      </p:sp>
      <p:sp>
        <p:nvSpPr>
          <p:cNvPr id="293" name="Google Shape;293;p29"/>
          <p:cNvSpPr txBox="1"/>
          <p:nvPr>
            <p:ph idx="1" type="body"/>
          </p:nvPr>
        </p:nvSpPr>
        <p:spPr>
          <a:xfrm>
            <a:off x="457200" y="1194800"/>
            <a:ext cx="79491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1450"/>
              <a:t>同樣是 N = 6 層，但每層有三個子層：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1450"/>
              <a:t>　1. Masked Multi-Head Self-Attention（加上遮罩）</a:t>
            </a:r>
          </a:p>
          <a:p>
            <a:pPr/>
            <a:r>
              <a:rPr sz="1450"/>
              <a:t>　2. Encoder-Decoder Attention（Query 來自 Decoder，Key/Value 來自 Encoder）</a:t>
            </a:r>
          </a:p>
          <a:p>
            <a:pPr/>
            <a:r>
              <a:rPr sz="1450"/>
              <a:t>　3. Feed-Forward Network</a:t>
            </a:r>
          </a:p>
          <a:p>
            <a:pPr/>
            <a:r>
              <a:rPr sz="1450"/>
              <a:t/>
            </a:r>
          </a:p>
          <a:p>
            <a:pPr/>
            <a:r>
              <a:rPr sz="1450"/>
              <a:t>Masking 的作用：確保預測第 i 個位置時，只能看到第 i 之前的輸出，</a:t>
            </a:r>
          </a:p>
          <a:p>
            <a:pPr/>
            <a:r>
              <a:rPr sz="1450"/>
              <a:t>　維持自迴歸（auto-regressive）性質，避免training時偷看答案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2" name="Google Shape;292;p29"/>
          <p:cNvSpPr txBox="1"/>
          <p:nvPr>
            <p:ph type="title"/>
          </p:nvPr>
        </p:nvSpPr>
        <p:spPr>
          <a:xfrm>
            <a:off x="457200" y="273844"/>
            <a:ext cx="805815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sz="2800"/>
              <a:t>Masking：不能偷看未來</a:t>
            </a:r>
            <a:endParaRPr sz="2800"/>
          </a:p>
        </p:txBody>
      </p:sp>
      <p:pic>
        <p:nvPicPr>
          <p:cNvPr id="293" name="Picture 292" descr="fig7_mask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141" y="1325880"/>
            <a:ext cx="7237716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2" name="Google Shape;292;p29"/>
          <p:cNvSpPr txBox="1"/>
          <p:nvPr>
            <p:ph type="title"/>
          </p:nvPr>
        </p:nvSpPr>
        <p:spPr>
          <a:xfrm>
            <a:off x="457200" y="273844"/>
            <a:ext cx="805815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sz="2800"/>
              <a:t>Position-wise Feed-Forward Network</a:t>
            </a:r>
            <a:endParaRPr sz="2800"/>
          </a:p>
        </p:txBody>
      </p:sp>
      <p:sp>
        <p:nvSpPr>
          <p:cNvPr id="293" name="Google Shape;293;p29"/>
          <p:cNvSpPr txBox="1"/>
          <p:nvPr>
            <p:ph idx="1" type="body"/>
          </p:nvPr>
        </p:nvSpPr>
        <p:spPr>
          <a:xfrm>
            <a:off x="457200" y="1194800"/>
            <a:ext cx="79491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1500"/>
              <a:t>FFN(x) = max(0, x·W₁ + b₁)·W₂ + b₂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1500"/>
              <a:t/>
            </a:r>
          </a:p>
          <a:p>
            <a:pPr/>
            <a:r>
              <a:rPr sz="1500"/>
              <a:t>兩層線性轉換中間夾一個 ReLU 啟動函數</a:t>
            </a:r>
          </a:p>
          <a:p>
            <a:pPr/>
            <a:r>
              <a:rPr sz="1500"/>
              <a:t>「Position-wise」的意思是：對每個位置獨立套用，且參數共享</a:t>
            </a:r>
          </a:p>
          <a:p>
            <a:pPr/>
            <a:r>
              <a:rPr sz="1500"/>
              <a:t>維度變化：512 → 2048 → 512（d_ff = 2048）</a:t>
            </a:r>
          </a:p>
          <a:p>
            <a:pPr/>
            <a:r>
              <a:rPr sz="1500"/>
              <a:t>作用：提供非線性轉換能力，補足 attention 本身偏線性的限制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2" name="Google Shape;292;p29"/>
          <p:cNvSpPr txBox="1"/>
          <p:nvPr>
            <p:ph type="title"/>
          </p:nvPr>
        </p:nvSpPr>
        <p:spPr>
          <a:xfrm>
            <a:off x="457200" y="273844"/>
            <a:ext cx="805815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sz="2800"/>
              <a:t>Positional Encoding：位置資訊哪裡來？</a:t>
            </a:r>
            <a:endParaRPr sz="2800"/>
          </a:p>
        </p:txBody>
      </p:sp>
      <p:sp>
        <p:nvSpPr>
          <p:cNvPr id="293" name="Google Shape;293;p29"/>
          <p:cNvSpPr txBox="1"/>
          <p:nvPr>
            <p:ph idx="1" type="body"/>
          </p:nvPr>
        </p:nvSpPr>
        <p:spPr>
          <a:xfrm>
            <a:off x="457200" y="1194800"/>
            <a:ext cx="79491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1400"/>
              <a:t>問題：Transformer 沒有循環也沒有卷積，本身無法分辨字的先後順序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1400"/>
              <a:t>　對它來說「我打你」和「你打我」的字集合完全相同</a:t>
            </a:r>
          </a:p>
          <a:p>
            <a:pPr/>
            <a:r>
              <a:rPr sz="1400"/>
              <a:t>解法：在輸入 embedding 上直接加上位置編碼</a:t>
            </a:r>
          </a:p>
          <a:p>
            <a:pPr/>
            <a:r>
              <a:rPr sz="1400"/>
              <a:t/>
            </a:r>
          </a:p>
          <a:p>
            <a:pPr/>
            <a:r>
              <a:rPr sz="1400"/>
              <a:t>PE(pos, 2i)   = sin( pos / 10000^(2i/d_model) )</a:t>
            </a:r>
          </a:p>
          <a:p>
            <a:pPr/>
            <a:r>
              <a:rPr sz="1400"/>
              <a:t>PE(pos, 2i+1) = cos( pos / 10000^(2i/d_model) )</a:t>
            </a:r>
          </a:p>
          <a:p>
            <a:pPr/>
            <a:r>
              <a:rPr sz="1400"/>
              <a:t/>
            </a:r>
          </a:p>
          <a:p>
            <a:pPr/>
            <a:r>
              <a:rPr sz="1400"/>
              <a:t>選用 sin/cos 的理由：可能有助於推廣到訓練時未見過的更長序列</a:t>
            </a:r>
          </a:p>
          <a:p>
            <a:pPr/>
            <a:r>
              <a:rPr sz="1400"/>
              <a:t>論文也試過「可學習的位置向量」，結果幾乎相同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2" name="Google Shape;292;p29"/>
          <p:cNvSpPr txBox="1"/>
          <p:nvPr>
            <p:ph type="title"/>
          </p:nvPr>
        </p:nvSpPr>
        <p:spPr>
          <a:xfrm>
            <a:off x="457200" y="273844"/>
            <a:ext cx="805815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sz="2800"/>
              <a:t>Positional Encoding 長什麼樣子</a:t>
            </a:r>
            <a:endParaRPr sz="2800"/>
          </a:p>
        </p:txBody>
      </p:sp>
      <p:pic>
        <p:nvPicPr>
          <p:cNvPr id="293" name="Picture 292" descr="fig6_positional_enco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19" y="1325880"/>
            <a:ext cx="8138160" cy="3022745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2" name="Google Shape;292;p29"/>
          <p:cNvSpPr txBox="1"/>
          <p:nvPr>
            <p:ph type="title"/>
          </p:nvPr>
        </p:nvSpPr>
        <p:spPr>
          <a:xfrm>
            <a:off x="457200" y="273844"/>
            <a:ext cx="805815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sz="2800"/>
              <a:t>模型中三種 Attention 的用法</a:t>
            </a:r>
            <a:endParaRPr sz="2800"/>
          </a:p>
        </p:txBody>
      </p:sp>
      <p:sp>
        <p:nvSpPr>
          <p:cNvPr id="293" name="Google Shape;293;p29"/>
          <p:cNvSpPr txBox="1"/>
          <p:nvPr>
            <p:ph idx="1" type="body"/>
          </p:nvPr>
        </p:nvSpPr>
        <p:spPr>
          <a:xfrm>
            <a:off x="457200" y="1194800"/>
            <a:ext cx="79491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1400"/>
              <a:t>1. Encoder Self-Attention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1400"/>
              <a:t>　Q、K、V 全部來自前一層 Encoder，每個位置可看到全部輸入</a:t>
            </a:r>
          </a:p>
          <a:p>
            <a:pPr/>
            <a:r>
              <a:rPr sz="1400"/>
              <a:t/>
            </a:r>
          </a:p>
          <a:p>
            <a:pPr/>
            <a:r>
              <a:rPr sz="1400"/>
              <a:t>2. Decoder Masked Self-Attention</a:t>
            </a:r>
          </a:p>
          <a:p>
            <a:pPr/>
            <a:r>
              <a:rPr sz="1400"/>
              <a:t>　Q、K、V 來自前一層 Decoder，但加遮罩，只能看到自己與前面</a:t>
            </a:r>
          </a:p>
          <a:p>
            <a:pPr/>
            <a:r>
              <a:rPr sz="1400"/>
              <a:t/>
            </a:r>
          </a:p>
          <a:p>
            <a:pPr/>
            <a:r>
              <a:rPr sz="1400"/>
              <a:t>3. Encoder-Decoder Attention（Cross Attention）</a:t>
            </a:r>
          </a:p>
          <a:p>
            <a:pPr/>
            <a:r>
              <a:rPr sz="1400"/>
              <a:t>　Q 來自 Decoder，K 與 V 來自 Encoder 輸出</a:t>
            </a:r>
          </a:p>
          <a:p>
            <a:pPr/>
            <a:r>
              <a:rPr sz="1400"/>
              <a:t>　讓解碼時能對照原文的每個位置 —— 對應傳統翻譯模型的對齊機制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5" name="Google Shape;275;p26"/>
          <p:cNvSpPr txBox="1"/>
          <p:nvPr>
            <p:ph type="title"/>
          </p:nvPr>
        </p:nvSpPr>
        <p:spPr>
          <a:xfrm>
            <a:off x="663157" y="1310282"/>
            <a:ext cx="7809600" cy="17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t>4. 為什麼 Self-Attention 更好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2" name="Google Shape;292;p29"/>
          <p:cNvSpPr txBox="1"/>
          <p:nvPr>
            <p:ph type="title"/>
          </p:nvPr>
        </p:nvSpPr>
        <p:spPr>
          <a:xfrm>
            <a:off x="457200" y="273844"/>
            <a:ext cx="805815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sz="2800"/>
              <a:t>三種層的複雜度比較（論文 Table 1）</a:t>
            </a:r>
            <a:endParaRPr sz="2800"/>
          </a:p>
        </p:txBody>
      </p:sp>
      <p:graphicFrame>
        <p:nvGraphicFramePr>
          <p:cNvPr id="293" name="Table 292"/>
          <p:cNvGraphicFramePr>
            <a:graphicFrameLocks noGrp="1"/>
          </p:cNvGraphicFramePr>
          <p:nvPr/>
        </p:nvGraphicFramePr>
        <p:xfrm>
          <a:off x="502920" y="1417320"/>
          <a:ext cx="813816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4540"/>
                <a:gridCol w="2034540"/>
                <a:gridCol w="2034540"/>
                <a:gridCol w="2034540"/>
              </a:tblGrid>
              <a:tr h="571500">
                <a:tc>
                  <a:txBody>
                    <a:bodyPr/>
                    <a:lstStyle/>
                    <a:p>
                      <a:r>
                        <a:rPr sz="1300" b="1">
                          <a:latin typeface="Microsoft JhengHei"/>
                        </a:rPr>
                        <a:t>層別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JhengHei"/>
                        </a:rPr>
                        <a:t>每層複雜度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JhengHei"/>
                        </a:rPr>
                        <a:t>序列運算次數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1">
                          <a:latin typeface="Microsoft JhengHei"/>
                        </a:rPr>
                        <a:t>最長路徑長度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Self-Attention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O(n² · 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O(1)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Recurrent (RNN)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O(n · d²)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O(n)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Convolutional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O(k · n · d²)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>
                          <a:latin typeface="Microsoft JhengHei"/>
                        </a:rPr>
                        <a:t>O(log_k n)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94" name="TextBox 293"/>
          <p:cNvSpPr txBox="1"/>
          <p:nvPr/>
        </p:nvSpPr>
        <p:spPr>
          <a:xfrm>
            <a:off x="685800" y="3886200"/>
            <a:ext cx="7772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3C6FD1"/>
                </a:solidFill>
                <a:latin typeface="Microsoft JhengHei"/>
              </a:rPr>
              <a:t>n = 序列長度，d = 表示維度，k = 卷積核大小</a:t>
            </a:r>
          </a:p>
          <a:p>
            <a:r>
              <a:rPr sz="1300">
                <a:solidFill>
                  <a:srgbClr val="3C6FD1"/>
                </a:solidFill>
                <a:latin typeface="Microsoft JhengHei"/>
              </a:rPr>
              <a:t>實務上句子長度 n 通常小於維度 d，此時 Self-Attention 反而比 RNN 更快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2" name="Google Shape;292;p29"/>
          <p:cNvSpPr txBox="1"/>
          <p:nvPr>
            <p:ph type="title"/>
          </p:nvPr>
        </p:nvSpPr>
        <p:spPr>
          <a:xfrm>
            <a:off x="457200" y="273844"/>
            <a:ext cx="805815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sz="2800"/>
              <a:t>Self-Attention 的三個優勢</a:t>
            </a:r>
            <a:endParaRPr sz="2800"/>
          </a:p>
        </p:txBody>
      </p:sp>
      <p:sp>
        <p:nvSpPr>
          <p:cNvPr id="293" name="Google Shape;293;p29"/>
          <p:cNvSpPr txBox="1"/>
          <p:nvPr>
            <p:ph idx="1" type="body"/>
          </p:nvPr>
        </p:nvSpPr>
        <p:spPr>
          <a:xfrm>
            <a:off x="457200" y="1194800"/>
            <a:ext cx="79491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1400"/>
              <a:t>1. 計算可完全平行化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1400"/>
              <a:t>　序列運算次數為 O(1)，不需等待前一步，充分利用 GPU</a:t>
            </a:r>
          </a:p>
          <a:p>
            <a:pPr/>
            <a:r>
              <a:rPr sz="1400"/>
              <a:t/>
            </a:r>
          </a:p>
          <a:p>
            <a:pPr/>
            <a:r>
              <a:rPr sz="1400"/>
              <a:t>2. 學習長距離依賴更容易</a:t>
            </a:r>
          </a:p>
          <a:p>
            <a:pPr/>
            <a:r>
              <a:rPr sz="1400"/>
              <a:t>　任兩個位置之間的路徑長度固定為 O(1)，訊號傳遞不衰減</a:t>
            </a:r>
          </a:p>
          <a:p>
            <a:pPr/>
            <a:r>
              <a:rPr sz="1400"/>
              <a:t/>
            </a:r>
          </a:p>
          <a:p>
            <a:pPr/>
            <a:r>
              <a:rPr sz="1400"/>
              <a:t>3. 可解釋性較佳</a:t>
            </a:r>
          </a:p>
          <a:p>
            <a:pPr/>
            <a:r>
              <a:rPr sz="1400"/>
              <a:t>　注意力權重可以直接視覺化，論文附錄顯示不同 head 學到了</a:t>
            </a:r>
          </a:p>
          <a:p>
            <a:pPr/>
            <a:r>
              <a:rPr sz="1400"/>
              <a:t>　語法結構與指代關係等具語言學意義的模式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5" name="Google Shape;275;p26"/>
          <p:cNvSpPr txBox="1"/>
          <p:nvPr>
            <p:ph type="title"/>
          </p:nvPr>
        </p:nvSpPr>
        <p:spPr>
          <a:xfrm>
            <a:off x="663157" y="1310282"/>
            <a:ext cx="7809600" cy="17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t>5. 實驗與結果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2" name="Google Shape;292;p29"/>
          <p:cNvSpPr txBox="1"/>
          <p:nvPr>
            <p:ph type="title"/>
          </p:nvPr>
        </p:nvSpPr>
        <p:spPr>
          <a:xfrm>
            <a:off x="457200" y="273844"/>
            <a:ext cx="805815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sz="2800"/>
              <a:t>訓練設定</a:t>
            </a:r>
            <a:endParaRPr sz="2800"/>
          </a:p>
        </p:txBody>
      </p:sp>
      <p:sp>
        <p:nvSpPr>
          <p:cNvPr id="293" name="Google Shape;293;p29"/>
          <p:cNvSpPr txBox="1"/>
          <p:nvPr>
            <p:ph idx="1" type="body"/>
          </p:nvPr>
        </p:nvSpPr>
        <p:spPr>
          <a:xfrm>
            <a:off x="457200" y="1194800"/>
            <a:ext cx="79491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1450"/>
              <a:t>資料集：WMT 2014 英德（450 萬句對）、英法（3600 萬句對）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1450"/>
              <a:t>分詞：Byte-Pair Encoding，英德共用約 37,000 個 token</a:t>
            </a:r>
          </a:p>
          <a:p>
            <a:pPr/>
            <a:r>
              <a:rPr sz="1450"/>
              <a:t>硬體：8 張 NVIDIA P100 GPU</a:t>
            </a:r>
          </a:p>
          <a:p>
            <a:pPr/>
            <a:r>
              <a:rPr sz="1450"/>
              <a:t>訓練時間：base 模型約 12 小時；big 模型約 3.5 天</a:t>
            </a:r>
          </a:p>
          <a:p>
            <a:pPr/>
            <a:r>
              <a:rPr sz="1450"/>
              <a:t>優化器：Adam（β₁ = 0.9, β₂ = 0.98, ε = 10⁻⁹）</a:t>
            </a:r>
          </a:p>
          <a:p>
            <a:pPr/>
            <a:r>
              <a:rPr sz="1450"/>
              <a:t>學習率：先線性warmup（4000 步）再依步數平方根遞減</a:t>
            </a:r>
          </a:p>
          <a:p>
            <a:pPr/>
            <a:r>
              <a:rPr sz="1450"/>
              <a:t>正規化：Residual Dropout 0.1、Label Smoothing 0.1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2" name="Google Shape;292;p29"/>
          <p:cNvSpPr txBox="1"/>
          <p:nvPr>
            <p:ph type="title"/>
          </p:nvPr>
        </p:nvSpPr>
        <p:spPr>
          <a:xfrm>
            <a:off x="457200" y="273844"/>
            <a:ext cx="805815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sz="2800"/>
              <a:t>翻譯結果（BLEU 分數）</a:t>
            </a:r>
            <a:endParaRPr sz="2800"/>
          </a:p>
        </p:txBody>
      </p:sp>
      <p:graphicFrame>
        <p:nvGraphicFramePr>
          <p:cNvPr id="293" name="Table 292"/>
          <p:cNvGraphicFramePr>
            <a:graphicFrameLocks noGrp="1"/>
          </p:cNvGraphicFramePr>
          <p:nvPr/>
        </p:nvGraphicFramePr>
        <p:xfrm>
          <a:off x="1051560" y="1554480"/>
          <a:ext cx="704088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46960"/>
                <a:gridCol w="2346960"/>
                <a:gridCol w="2346960"/>
              </a:tblGrid>
              <a:tr h="579120">
                <a:tc>
                  <a:txBody>
                    <a:bodyPr/>
                    <a:lstStyle/>
                    <a:p>
                      <a:r>
                        <a:rPr sz="1400" b="1">
                          <a:latin typeface="Microsoft JhengHei"/>
                        </a:rPr>
                        <a:t>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JhengHei"/>
                        </a:rPr>
                        <a:t>英→德 BLEU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JhengHei"/>
                        </a:rPr>
                        <a:t>英→法 BLEU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>
                          <a:latin typeface="Microsoft JhengHei"/>
                        </a:rPr>
                        <a:t>先前最佳（含 ensemble）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icrosoft JhengHei"/>
                        </a:rPr>
                        <a:t>26.3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>
                          <a:latin typeface="Microsoft JhengHei"/>
                        </a:rPr>
                        <a:t>41.2</a:t>
                      </a:r>
                    </a:p>
                  </a:txBody>
                  <a:tcPr/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400" b="1">
                          <a:latin typeface="Microsoft JhengHei"/>
                        </a:rPr>
                        <a:t>Transformer (big)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JhengHei"/>
                        </a:rPr>
                        <a:t>28.4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 b="1">
                          <a:latin typeface="Microsoft JhengHei"/>
                        </a:rPr>
                        <a:t>41.8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94" name="TextBox 293"/>
          <p:cNvSpPr txBox="1"/>
          <p:nvPr/>
        </p:nvSpPr>
        <p:spPr>
          <a:xfrm>
            <a:off x="685800" y="3520440"/>
            <a:ext cx="7772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50">
                <a:solidFill>
                  <a:srgbClr val="1E8449"/>
                </a:solidFill>
                <a:latin typeface="Microsoft JhengHei"/>
              </a:rPr>
              <a:t>英德翻譯：超越先前所有模型（含多模型 ensemble）逾 2 BLEU</a:t>
            </a:r>
          </a:p>
          <a:p>
            <a:r>
              <a:rPr sz="1350">
                <a:solidFill>
                  <a:srgbClr val="1E8449"/>
                </a:solidFill>
                <a:latin typeface="Microsoft JhengHei"/>
              </a:rPr>
              <a:t>英法翻譯：創下單一模型的新紀錄，且訓練成本不到先前最佳模型的 1/4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2" name="Google Shape;292;p29"/>
          <p:cNvSpPr txBox="1"/>
          <p:nvPr>
            <p:ph type="title"/>
          </p:nvPr>
        </p:nvSpPr>
        <p:spPr>
          <a:xfrm>
            <a:off x="457200" y="273844"/>
            <a:ext cx="805815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sz="2800"/>
              <a:t>消融實驗的發現（論文 Table 3）</a:t>
            </a:r>
            <a:endParaRPr sz="2800"/>
          </a:p>
        </p:txBody>
      </p:sp>
      <p:sp>
        <p:nvSpPr>
          <p:cNvPr id="293" name="Google Shape;293;p29"/>
          <p:cNvSpPr txBox="1"/>
          <p:nvPr>
            <p:ph idx="1" type="body"/>
          </p:nvPr>
        </p:nvSpPr>
        <p:spPr>
          <a:xfrm>
            <a:off x="457200" y="1194800"/>
            <a:ext cx="79491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1400"/>
              <a:t>head 數量：太少（單頭）表現下降；太多（32 頭）也會變差，8 頭最佳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1400"/>
              <a:t>d_k 太小會傷害品質 → 顯示判斷相關性並非簡單的內積就足夠</a:t>
            </a:r>
          </a:p>
          <a:p>
            <a:pPr/>
            <a:r>
              <a:rPr sz="1400"/>
              <a:t>模型越大表現越好；dropout 對抑制過擬合確實有效</a:t>
            </a:r>
          </a:p>
          <a:p>
            <a:pPr/>
            <a:r>
              <a:rPr sz="1400"/>
              <a:t>把 sin/cos 位置編碼換成可學習的位置向量 → 結果幾乎相同</a:t>
            </a:r>
          </a:p>
          <a:p>
            <a:pPr/>
            <a:r>
              <a:rPr sz="1400"/>
              <a:t/>
            </a:r>
          </a:p>
          <a:p>
            <a:pPr/>
            <a:r>
              <a:rPr sz="1400"/>
              <a:t>另外：論文也在英文句法剖析（English Constituency Parsing）上測試，</a:t>
            </a:r>
          </a:p>
          <a:p>
            <a:pPr/>
            <a:r>
              <a:rPr sz="1400"/>
              <a:t>　顯示 Transformer 不只適用翻譯，具備跨任務的泛化能力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5" name="Google Shape;275;p26"/>
          <p:cNvSpPr txBox="1"/>
          <p:nvPr>
            <p:ph type="title"/>
          </p:nvPr>
        </p:nvSpPr>
        <p:spPr>
          <a:xfrm>
            <a:off x="663157" y="1310282"/>
            <a:ext cx="7809600" cy="17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t>6. 影響與總結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2" name="Google Shape;292;p29"/>
          <p:cNvSpPr txBox="1"/>
          <p:nvPr>
            <p:ph type="title"/>
          </p:nvPr>
        </p:nvSpPr>
        <p:spPr>
          <a:xfrm>
            <a:off x="457200" y="273844"/>
            <a:ext cx="805815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sz="2800"/>
              <a:t>這篇論文帶來的影響</a:t>
            </a:r>
            <a:endParaRPr sz="2800"/>
          </a:p>
        </p:txBody>
      </p:sp>
      <p:sp>
        <p:nvSpPr>
          <p:cNvPr id="293" name="Google Shape;293;p29"/>
          <p:cNvSpPr txBox="1"/>
          <p:nvPr>
            <p:ph idx="1" type="body"/>
          </p:nvPr>
        </p:nvSpPr>
        <p:spPr>
          <a:xfrm>
            <a:off x="457200" y="1194800"/>
            <a:ext cx="79491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1450"/>
              <a:t>BERT（2018）：只取 Encoder，用雙向遮罩預訓練，擅長理解類任務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1450"/>
              <a:t>GPT 系列：只取 Decoder，自迴歸生成，發展成今日的大型語言模型</a:t>
            </a:r>
          </a:p>
          <a:p>
            <a:pPr/>
            <a:r>
              <a:rPr sz="1450"/>
              <a:t>應用擴散到其他領域：影像（ViT）、語音（Whisper）、生物（AlphaFold 2）</a:t>
            </a:r>
          </a:p>
          <a:p>
            <a:pPr/>
            <a:r>
              <a:rPr sz="1450"/>
              <a:t/>
            </a:r>
          </a:p>
          <a:p>
            <a:pPr/>
            <a:r>
              <a:rPr sz="1450"/>
              <a:t>今天幾乎所有主流大型語言模型 —— GPT、Gemini、Llama、Qwen ——</a:t>
            </a:r>
          </a:p>
          <a:p>
            <a:pPr/>
            <a:r>
              <a:rPr sz="1450"/>
              <a:t>　底層架構都源自這篇 2017 年的論文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2" name="Google Shape;292;p29"/>
          <p:cNvSpPr txBox="1"/>
          <p:nvPr>
            <p:ph type="title"/>
          </p:nvPr>
        </p:nvSpPr>
        <p:spPr>
          <a:xfrm>
            <a:off x="457200" y="273844"/>
            <a:ext cx="805815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sz="2800"/>
              <a:t>已知限制與後續改進方向</a:t>
            </a:r>
            <a:endParaRPr sz="2800"/>
          </a:p>
        </p:txBody>
      </p:sp>
      <p:sp>
        <p:nvSpPr>
          <p:cNvPr id="293" name="Google Shape;293;p29"/>
          <p:cNvSpPr txBox="1"/>
          <p:nvPr>
            <p:ph idx="1" type="body"/>
          </p:nvPr>
        </p:nvSpPr>
        <p:spPr>
          <a:xfrm>
            <a:off x="457200" y="1194800"/>
            <a:ext cx="79491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1450"/>
              <a:t>計算複雜度為 O(n²)：序列長度加倍，注意力計算量變成四倍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1450"/>
              <a:t>　→ 這是 LLM「上下文長度」受限的根本原因之一</a:t>
            </a:r>
          </a:p>
          <a:p>
            <a:pPr/>
            <a:r>
              <a:rPr sz="1450"/>
              <a:t>　→ 後續研究方向：Sparse Attention、Linformer、FlashAttention 等</a:t>
            </a:r>
          </a:p>
          <a:p>
            <a:pPr/>
            <a:r>
              <a:rPr sz="1450"/>
              <a:t/>
            </a:r>
          </a:p>
          <a:p>
            <a:pPr/>
            <a:r>
              <a:rPr sz="1450"/>
              <a:t>位置編碼的外推能力有限</a:t>
            </a:r>
          </a:p>
          <a:p>
            <a:pPr/>
            <a:r>
              <a:rPr sz="1450"/>
              <a:t>　→ 後續發展出 RoPE、ALiBi 等相對位置編碼方法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92" name="Google Shape;292;p29"/>
          <p:cNvSpPr txBox="1"/>
          <p:nvPr>
            <p:ph type="title"/>
          </p:nvPr>
        </p:nvSpPr>
        <p:spPr>
          <a:xfrm>
            <a:off x="457200" y="273844"/>
            <a:ext cx="8058150" cy="61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sz="2800"/>
              <a:t>總結</a:t>
            </a:r>
            <a:endParaRPr sz="2800"/>
          </a:p>
        </p:txBody>
      </p:sp>
      <p:sp>
        <p:nvSpPr>
          <p:cNvPr id="293" name="Google Shape;293;p29"/>
          <p:cNvSpPr txBox="1"/>
          <p:nvPr>
            <p:ph idx="1" type="body"/>
          </p:nvPr>
        </p:nvSpPr>
        <p:spPr>
          <a:xfrm>
            <a:off x="457200" y="1194800"/>
            <a:ext cx="79491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sz="1500"/>
              <a:t>核心主張：處理序列不需要循環或卷積，只靠注意力機制就足夠</a:t>
            </a:r>
            <a:endParaRPr sz="1700">
              <a:latin typeface="Arial"/>
              <a:ea typeface="Arial"/>
              <a:cs typeface="Arial"/>
              <a:sym typeface="Arial"/>
            </a:endParaRPr>
          </a:p>
          <a:p>
            <a:pPr/>
            <a:r>
              <a:rPr sz="1500"/>
              <a:t>關鍵設計：Self-Attention、Multi-Head、Positional Encoding、殘差與層正規化</a:t>
            </a:r>
          </a:p>
          <a:p>
            <a:pPr/>
            <a:r>
              <a:rPr sz="1500"/>
              <a:t>主要優勢：可平行運算、長距離依賴容易學習、具可解釋性</a:t>
            </a:r>
          </a:p>
          <a:p>
            <a:pPr/>
            <a:r>
              <a:rPr sz="1500"/>
              <a:t>實驗證據：在兩項翻譯任務上創下最佳成績，且訓練成本大幅降低</a:t>
            </a:r>
          </a:p>
          <a:p>
            <a:pPr/>
            <a:r>
              <a:rPr sz="1500"/>
              <a:t>歷史意義：奠定了此後所有大型語言模型的架構基礎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75" name="Google Shape;275;p26"/>
          <p:cNvSpPr txBox="1"/>
          <p:nvPr>
            <p:ph type="title"/>
          </p:nvPr>
        </p:nvSpPr>
        <p:spPr>
          <a:xfrm>
            <a:off x="663157" y="1310282"/>
            <a:ext cx="7809600" cy="170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None/>
            </a:pPr>
            <a:r>
              <a:t>謝謝聆聽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